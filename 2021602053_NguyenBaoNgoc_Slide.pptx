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78" r:id="rId3"/>
    <p:sldId id="280" r:id="rId4"/>
    <p:sldId id="259" r:id="rId5"/>
    <p:sldId id="287" r:id="rId6"/>
    <p:sldId id="261" r:id="rId7"/>
    <p:sldId id="282" r:id="rId8"/>
    <p:sldId id="288" r:id="rId9"/>
    <p:sldId id="293" r:id="rId10"/>
    <p:sldId id="284" r:id="rId11"/>
    <p:sldId id="263" r:id="rId12"/>
    <p:sldId id="285" r:id="rId13"/>
    <p:sldId id="291" r:id="rId14"/>
    <p:sldId id="290" r:id="rId15"/>
    <p:sldId id="294" r:id="rId16"/>
    <p:sldId id="272" r:id="rId17"/>
  </p:sldIdLst>
  <p:sldSz cx="18288000" cy="10287000"/>
  <p:notesSz cx="6858000" cy="9144000"/>
  <p:embeddedFontLst>
    <p:embeddedFont>
      <p:font typeface="Canva Sans Bold" panose="020B0604020202020204" charset="0"/>
      <p:regular r:id="rId19"/>
    </p:embeddedFont>
    <p:embeddedFont>
      <p:font typeface="Montserrat Black" panose="020B0604020202020204" charset="-93"/>
      <p:bold r:id="rId20"/>
      <p:boldItalic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Open Sans Bold" panose="020B0604020202020204" charset="0"/>
      <p:regular r:id="rId30"/>
    </p:embeddedFont>
    <p:embeddedFont>
      <p:font typeface="Anton" panose="020B0604020202020204" charset="-93"/>
      <p:regular r:id="rId31"/>
    </p:embeddedFont>
    <p:embeddedFont>
      <p:font typeface="Helvetica Neue" panose="020B0604020202020204" charset="0"/>
      <p:regular r:id="rId32"/>
      <p:bold r:id="rId33"/>
      <p:italic r:id="rId34"/>
      <p:boldItalic r:id="rId35"/>
    </p:embeddedFont>
    <p:embeddedFont>
      <p:font typeface="Wingdings 3" panose="05040102010807070707" pitchFamily="18" charset="2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daHaYlyID2mFcI1P2ppFu7bal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43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1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7655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240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0906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3992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69706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183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600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9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6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75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0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79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759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67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038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45563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996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65169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045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61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7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>
            <a:off x="-20121768" y="1886427"/>
            <a:ext cx="26478099" cy="11674748"/>
          </a:xfrm>
          <a:custGeom>
            <a:avLst/>
            <a:gdLst/>
            <a:ahLst/>
            <a:cxnLst/>
            <a:rect l="l" t="t" r="r" b="b"/>
            <a:pathLst>
              <a:path w="26478099" h="11674748" extrusionOk="0">
                <a:moveTo>
                  <a:pt x="26478098" y="0"/>
                </a:moveTo>
                <a:lnTo>
                  <a:pt x="0" y="0"/>
                </a:lnTo>
                <a:lnTo>
                  <a:pt x="0" y="11674748"/>
                </a:lnTo>
                <a:lnTo>
                  <a:pt x="26478098" y="11674748"/>
                </a:lnTo>
                <a:lnTo>
                  <a:pt x="26478098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t="-63394" b="-63394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535908" y="606465"/>
            <a:ext cx="717581" cy="844471"/>
          </a:xfrm>
          <a:custGeom>
            <a:avLst/>
            <a:gdLst/>
            <a:ahLst/>
            <a:cxnLst/>
            <a:rect l="l" t="t" r="r" b="b"/>
            <a:pathLst>
              <a:path w="717581" h="844471" extrusionOk="0">
                <a:moveTo>
                  <a:pt x="0" y="0"/>
                </a:moveTo>
                <a:lnTo>
                  <a:pt x="717581" y="0"/>
                </a:lnTo>
                <a:lnTo>
                  <a:pt x="717581" y="844470"/>
                </a:lnTo>
                <a:lnTo>
                  <a:pt x="0" y="844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flipH="1">
            <a:off x="16802847" y="9074087"/>
            <a:ext cx="365153" cy="347891"/>
          </a:xfrm>
          <a:custGeom>
            <a:avLst/>
            <a:gdLst/>
            <a:ahLst/>
            <a:cxnLst/>
            <a:rect l="l" t="t" r="r" b="b"/>
            <a:pathLst>
              <a:path w="365153" h="347891" extrusionOk="0">
                <a:moveTo>
                  <a:pt x="365153" y="0"/>
                </a:moveTo>
                <a:lnTo>
                  <a:pt x="0" y="0"/>
                </a:lnTo>
                <a:lnTo>
                  <a:pt x="0" y="347891"/>
                </a:lnTo>
                <a:lnTo>
                  <a:pt x="365153" y="347891"/>
                </a:lnTo>
                <a:lnTo>
                  <a:pt x="36515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0" y="0"/>
            <a:ext cx="12712661" cy="2444882"/>
          </a:xfrm>
          <a:custGeom>
            <a:avLst/>
            <a:gdLst/>
            <a:ahLst/>
            <a:cxnLst/>
            <a:rect l="l" t="t" r="r" b="b"/>
            <a:pathLst>
              <a:path w="12712661" h="2444882" extrusionOk="0">
                <a:moveTo>
                  <a:pt x="0" y="0"/>
                </a:moveTo>
                <a:lnTo>
                  <a:pt x="12712661" y="0"/>
                </a:lnTo>
                <a:lnTo>
                  <a:pt x="12712661" y="2444882"/>
                </a:lnTo>
                <a:lnTo>
                  <a:pt x="0" y="2444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6283" b="-629497"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12346283" y="-1483482"/>
            <a:ext cx="5868835" cy="5868835"/>
            <a:chOff x="0" y="0"/>
            <a:chExt cx="812800" cy="812800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FCDFF"/>
                </a:gs>
                <a:gs pos="100000">
                  <a:srgbClr val="6F629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750" tIns="41750" rIns="41750" bIns="41750" anchor="ctr" anchorCtr="0">
              <a:noAutofit/>
            </a:bodyPr>
            <a:lstStyle/>
            <a:p>
              <a:pPr marL="0" marR="0" lvl="0" indent="0" algn="ctr" rtl="0">
                <a:lnSpc>
                  <a:spcPct val="154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12712661" y="110331"/>
            <a:ext cx="6595480" cy="5288376"/>
          </a:xfrm>
          <a:custGeom>
            <a:avLst/>
            <a:gdLst/>
            <a:ahLst/>
            <a:cxnLst/>
            <a:rect l="l" t="t" r="r" b="b"/>
            <a:pathLst>
              <a:path w="6595480" h="5288376" extrusionOk="0">
                <a:moveTo>
                  <a:pt x="0" y="0"/>
                </a:moveTo>
                <a:lnTo>
                  <a:pt x="6595480" y="0"/>
                </a:lnTo>
                <a:lnTo>
                  <a:pt x="6595480" y="5288376"/>
                </a:lnTo>
                <a:lnTo>
                  <a:pt x="0" y="5288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2" name="Google Shape;92;p1"/>
          <p:cNvGrpSpPr/>
          <p:nvPr/>
        </p:nvGrpSpPr>
        <p:grpSpPr>
          <a:xfrm>
            <a:off x="15644023" y="2444882"/>
            <a:ext cx="4016122" cy="4016122"/>
            <a:chOff x="0" y="0"/>
            <a:chExt cx="812800" cy="812800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FE5FF"/>
                </a:gs>
                <a:gs pos="100000">
                  <a:srgbClr val="6F6296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1750" tIns="41750" rIns="41750" bIns="41750" anchor="ctr" anchorCtr="0">
              <a:noAutofit/>
            </a:bodyPr>
            <a:lstStyle/>
            <a:p>
              <a:pPr marL="0" marR="0" lvl="0" indent="0" algn="ctr" rtl="0">
                <a:lnSpc>
                  <a:spcPct val="154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1028700" y="5284407"/>
            <a:ext cx="15256648" cy="215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4" b="1" i="0" u="none" strike="noStrike" cap="none" dirty="0">
                <a:solidFill>
                  <a:srgbClr val="FC9E19"/>
                </a:solidFill>
                <a:latin typeface="Arial"/>
                <a:ea typeface="Arial"/>
                <a:cs typeface="Arial"/>
                <a:sym typeface="Arial"/>
              </a:rPr>
              <a:t>XÂY DỰNG </a:t>
            </a:r>
            <a:r>
              <a:rPr lang="en-US" sz="4804" b="1" dirty="0" smtClean="0">
                <a:solidFill>
                  <a:srgbClr val="FC9E19"/>
                </a:solidFill>
              </a:rPr>
              <a:t>WEBSITE </a:t>
            </a:r>
            <a:r>
              <a:rPr lang="vi-VN" sz="4804" b="1" dirty="0" smtClean="0">
                <a:solidFill>
                  <a:srgbClr val="FC9E19"/>
                </a:solidFill>
              </a:rPr>
              <a:t>BÁN HÀNG THỂ THAO SUPERSPORTS</a:t>
            </a:r>
            <a:endParaRPr dirty="0"/>
          </a:p>
        </p:txBody>
      </p:sp>
      <p:sp>
        <p:nvSpPr>
          <p:cNvPr id="96" name="Google Shape;96;p1"/>
          <p:cNvSpPr txBox="1"/>
          <p:nvPr/>
        </p:nvSpPr>
        <p:spPr>
          <a:xfrm>
            <a:off x="3899858" y="3514415"/>
            <a:ext cx="9144000" cy="116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99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 VỆ ĐỒ ÁN TỐT NGHIỆP</a:t>
            </a:r>
            <a:endParaRPr dirty="0"/>
          </a:p>
          <a:p>
            <a:pPr marL="0" marR="0" lvl="0" indent="0" algn="ctr" rtl="0">
              <a:lnSpc>
                <a:spcPct val="11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99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NGÀNH CÔNG NGHỆ THÔNG TIN</a:t>
            </a:r>
            <a:endParaRPr dirty="0"/>
          </a:p>
        </p:txBody>
      </p:sp>
      <p:sp>
        <p:nvSpPr>
          <p:cNvPr id="97" name="Google Shape;97;p1"/>
          <p:cNvSpPr txBox="1"/>
          <p:nvPr/>
        </p:nvSpPr>
        <p:spPr>
          <a:xfrm>
            <a:off x="5921878" y="7657126"/>
            <a:ext cx="6790783" cy="2367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34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CBHD:</a:t>
            </a:r>
            <a:r>
              <a:rPr lang="vi-VN" sz="2634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TS. ĐẶNG TRỌNG HỢP</a:t>
            </a:r>
            <a:endParaRPr dirty="0"/>
          </a:p>
          <a:p>
            <a:pPr marL="0" marR="0" lvl="0" indent="0" algn="l" rtl="0">
              <a:lnSpc>
                <a:spcPct val="145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34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SINH VIÊN:      </a:t>
            </a:r>
            <a:r>
              <a:rPr lang="vi-VN" sz="2634" b="1" dirty="0" smtClean="0"/>
              <a:t>NGUYỄN BẢO NGỌC</a:t>
            </a:r>
            <a:endParaRPr dirty="0"/>
          </a:p>
          <a:p>
            <a:pPr marL="0" marR="0" lvl="0" indent="0" algn="l" rtl="0">
              <a:lnSpc>
                <a:spcPct val="145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34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MÃ SỐ </a:t>
            </a:r>
            <a:r>
              <a:rPr lang="en-US" sz="2634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SV:</a:t>
            </a:r>
            <a:r>
              <a:rPr lang="vi-VN" sz="2634" b="1" i="0" u="none" strike="noStrike" cap="none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2021602053</a:t>
            </a:r>
            <a:endParaRPr dirty="0"/>
          </a:p>
          <a:p>
            <a:pPr marL="0" marR="0" lvl="0" indent="0" algn="l" rtl="0">
              <a:lnSpc>
                <a:spcPct val="14597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34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479" y="-220719"/>
            <a:ext cx="12352120" cy="10914336"/>
          </a:xfrm>
          <a:custGeom>
            <a:avLst/>
            <a:gdLst/>
            <a:ahLst/>
            <a:cxnLst/>
            <a:rect l="l" t="t" r="r" b="b"/>
            <a:pathLst>
              <a:path w="12352120" h="10914336">
                <a:moveTo>
                  <a:pt x="0" y="0"/>
                </a:moveTo>
                <a:lnTo>
                  <a:pt x="12352120" y="0"/>
                </a:lnTo>
                <a:lnTo>
                  <a:pt x="12352120" y="10914336"/>
                </a:lnTo>
                <a:lnTo>
                  <a:pt x="0" y="10914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11" r="-1631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451774">
            <a:off x="6789916" y="-3711708"/>
            <a:ext cx="14555832" cy="15250637"/>
            <a:chOff x="0" y="0"/>
            <a:chExt cx="3833635" cy="40166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33635" cy="4016629"/>
            </a:xfrm>
            <a:custGeom>
              <a:avLst/>
              <a:gdLst/>
              <a:ahLst/>
              <a:cxnLst/>
              <a:rect l="l" t="t" r="r" b="b"/>
              <a:pathLst>
                <a:path w="3833635" h="4016629">
                  <a:moveTo>
                    <a:pt x="0" y="0"/>
                  </a:moveTo>
                  <a:lnTo>
                    <a:pt x="3833635" y="0"/>
                  </a:lnTo>
                  <a:lnTo>
                    <a:pt x="3833635" y="4016629"/>
                  </a:lnTo>
                  <a:lnTo>
                    <a:pt x="0" y="4016629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833635" cy="4054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5583566" y="1436023"/>
            <a:ext cx="173894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5512988" y="103051"/>
            <a:ext cx="5807230" cy="122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04"/>
              </a:lnSpc>
            </a:pPr>
            <a:r>
              <a:rPr lang="en-US" sz="714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NỘI DUNG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6324" y="1905911"/>
            <a:ext cx="12514026" cy="136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95"/>
              </a:lnSpc>
            </a:pPr>
            <a:r>
              <a:rPr lang="en-US" sz="3199" b="1" spc="2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LÝ DO CHỌN ĐỀ TÀI</a:t>
            </a:r>
          </a:p>
          <a:p>
            <a:pPr algn="just">
              <a:lnSpc>
                <a:spcPts val="5695"/>
              </a:lnSpc>
            </a:pPr>
            <a:endParaRPr lang="en-US" sz="3199" b="1" spc="28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47330" y="3320705"/>
            <a:ext cx="11559905" cy="136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95"/>
              </a:lnSpc>
            </a:pPr>
            <a:r>
              <a:rPr lang="en-US" sz="3199" b="1" spc="2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TIÊU CỦA ĐỀ TÀI</a:t>
            </a:r>
          </a:p>
          <a:p>
            <a:pPr marL="0" lvl="0" indent="0" algn="just">
              <a:lnSpc>
                <a:spcPts val="5695"/>
              </a:lnSpc>
              <a:spcBef>
                <a:spcPct val="0"/>
              </a:spcBef>
            </a:pPr>
            <a:endParaRPr lang="en-US" sz="3199" b="1" spc="28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526204" y="4848568"/>
            <a:ext cx="9711188" cy="151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78024"/>
              </a:lnSpc>
            </a:pPr>
            <a:r>
              <a:rPr lang="en-US" sz="3199" b="1" dirty="0"/>
              <a:t>CÔNG NGHỆ  SỬ DỤNG</a:t>
            </a:r>
            <a:endParaRPr lang="en-US" sz="3200" dirty="0"/>
          </a:p>
          <a:p>
            <a:pPr marL="0" lvl="0" indent="0" algn="just">
              <a:lnSpc>
                <a:spcPts val="5695"/>
              </a:lnSpc>
              <a:spcBef>
                <a:spcPct val="0"/>
              </a:spcBef>
            </a:pPr>
            <a:endParaRPr lang="en-US" sz="3199" b="1" spc="28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665689" y="1836073"/>
            <a:ext cx="1495784" cy="1011170"/>
            <a:chOff x="0" y="0"/>
            <a:chExt cx="1994379" cy="134822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48227" cy="134822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>
                  <a:alpha val="94902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7051" y="85498"/>
              <a:ext cx="1817328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 spc="19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61473" y="4847808"/>
            <a:ext cx="1816220" cy="1011170"/>
            <a:chOff x="0" y="0"/>
            <a:chExt cx="2421626" cy="134822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348227" cy="134822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>
                  <a:alpha val="94902"/>
                </a:srgbClr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23202" y="153413"/>
              <a:ext cx="2098425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 spc="19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241919" y="6275413"/>
            <a:ext cx="9711188" cy="151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78024"/>
              </a:lnSpc>
            </a:pPr>
            <a:r>
              <a:rPr lang="vi-VN" sz="3200" b="1" dirty="0"/>
              <a:t>NỘI DUNG NGHIÊN CỨU</a:t>
            </a:r>
          </a:p>
          <a:p>
            <a:pPr marL="0" lvl="0" indent="0" algn="just">
              <a:lnSpc>
                <a:spcPts val="5695"/>
              </a:lnSpc>
              <a:spcBef>
                <a:spcPct val="0"/>
              </a:spcBef>
            </a:pPr>
            <a:endParaRPr lang="en-US" sz="3099" b="1" spc="27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04872" y="9329128"/>
            <a:ext cx="9711188" cy="641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695"/>
              </a:lnSpc>
              <a:spcBef>
                <a:spcPct val="0"/>
              </a:spcBef>
            </a:pPr>
            <a:endParaRPr lang="en-US" sz="3199" b="1" spc="28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7472108" y="7741606"/>
            <a:ext cx="1701904" cy="1011170"/>
            <a:chOff x="0" y="0"/>
            <a:chExt cx="2269206" cy="1348227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348227" cy="1348227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>
                  <a:alpha val="94902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41376" y="143540"/>
              <a:ext cx="2127830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 spc="19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16930" y="6239978"/>
            <a:ext cx="1851498" cy="1011170"/>
            <a:chOff x="0" y="0"/>
            <a:chExt cx="2468664" cy="1348227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348227" cy="1348227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>
                  <a:alpha val="94902"/>
                </a:srgbClr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240782" y="125028"/>
              <a:ext cx="2227882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 spc="19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70739" y="3341941"/>
            <a:ext cx="1346190" cy="1011170"/>
            <a:chOff x="0" y="0"/>
            <a:chExt cx="1794921" cy="1348227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348227" cy="1348227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>
                  <a:alpha val="94902"/>
                </a:srgbClr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45615" y="124086"/>
              <a:ext cx="1549306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 spc="198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57639" y="9294873"/>
            <a:ext cx="1443339" cy="868975"/>
            <a:chOff x="126396" y="63198"/>
            <a:chExt cx="1924452" cy="1158633"/>
          </a:xfrm>
        </p:grpSpPr>
        <p:sp>
          <p:nvSpPr>
            <p:cNvPr id="41" name="TextBox 41"/>
            <p:cNvSpPr txBox="1"/>
            <p:nvPr/>
          </p:nvSpPr>
          <p:spPr>
            <a:xfrm>
              <a:off x="126396" y="63198"/>
              <a:ext cx="1095435" cy="1158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7261" y="123079"/>
              <a:ext cx="1853587" cy="99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b="1" spc="198" dirty="0" smtClean="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6</a:t>
              </a:r>
              <a:endParaRPr lang="en-US" sz="4500" b="1" spc="198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8779162" y="7824242"/>
            <a:ext cx="9711188" cy="151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78024"/>
              </a:lnSpc>
            </a:pPr>
            <a:r>
              <a:rPr lang="vi-VN" sz="3199" b="1" dirty="0"/>
              <a:t>PHÂN TÍCH THIẾT KẾ</a:t>
            </a:r>
            <a:endParaRPr lang="vi-VN" sz="3200" dirty="0"/>
          </a:p>
          <a:p>
            <a:pPr marL="0" lvl="0" indent="0" algn="just">
              <a:lnSpc>
                <a:spcPts val="5695"/>
              </a:lnSpc>
              <a:spcBef>
                <a:spcPct val="0"/>
              </a:spcBef>
            </a:pPr>
            <a:endParaRPr lang="en-US" sz="3199" b="1" spc="28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83157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38100"/>
              <a:ext cx="4274726" cy="2129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6323" y="1943100"/>
            <a:ext cx="673013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3729124" y="2411903"/>
            <a:ext cx="2632196" cy="44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925" b="0" i="0" u="none" strike="noStrike" cap="none" dirty="0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 dirty="0"/>
          </a:p>
        </p:txBody>
      </p:sp>
      <p:sp>
        <p:nvSpPr>
          <p:cNvPr id="181" name="Google Shape;181;p5"/>
          <p:cNvSpPr txBox="1"/>
          <p:nvPr/>
        </p:nvSpPr>
        <p:spPr>
          <a:xfrm>
            <a:off x="716280" y="5822613"/>
            <a:ext cx="8657884" cy="201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9352" b="0" i="0" u="none" strike="noStrike" cap="none" dirty="0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 LÝ DO CHỌN ĐỀ TÀI</a:t>
            </a:r>
            <a:endParaRPr dirty="0"/>
          </a:p>
        </p:txBody>
      </p:sp>
      <p:sp>
        <p:nvSpPr>
          <p:cNvPr id="10" name="Google Shape;87;p1"/>
          <p:cNvSpPr/>
          <p:nvPr/>
        </p:nvSpPr>
        <p:spPr>
          <a:xfrm>
            <a:off x="0" y="0"/>
            <a:ext cx="18288000" cy="2444882"/>
          </a:xfrm>
          <a:custGeom>
            <a:avLst/>
            <a:gdLst/>
            <a:ahLst/>
            <a:cxnLst/>
            <a:rect l="l" t="t" r="r" b="b"/>
            <a:pathLst>
              <a:path w="12712661" h="2444882" extrusionOk="0">
                <a:moveTo>
                  <a:pt x="0" y="0"/>
                </a:moveTo>
                <a:lnTo>
                  <a:pt x="12712661" y="0"/>
                </a:lnTo>
                <a:lnTo>
                  <a:pt x="12712661" y="2444882"/>
                </a:lnTo>
                <a:lnTo>
                  <a:pt x="0" y="2444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6283" b="-629497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5423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4"/>
          <p:cNvGrpSpPr/>
          <p:nvPr/>
        </p:nvGrpSpPr>
        <p:grpSpPr>
          <a:xfrm>
            <a:off x="2480984" y="1043311"/>
            <a:ext cx="13526122" cy="7734929"/>
            <a:chOff x="0" y="-38100"/>
            <a:chExt cx="4628430" cy="3030145"/>
          </a:xfrm>
        </p:grpSpPr>
        <p:sp>
          <p:nvSpPr>
            <p:cNvPr id="161" name="Google Shape;161;p4"/>
            <p:cNvSpPr/>
            <p:nvPr/>
          </p:nvSpPr>
          <p:spPr>
            <a:xfrm>
              <a:off x="0" y="0"/>
              <a:ext cx="4628430" cy="2992045"/>
            </a:xfrm>
            <a:custGeom>
              <a:avLst/>
              <a:gdLst/>
              <a:ahLst/>
              <a:cxnLst/>
              <a:rect l="l" t="t" r="r" b="b"/>
              <a:pathLst>
                <a:path w="4628430" h="2992045" extrusionOk="0">
                  <a:moveTo>
                    <a:pt x="2862" y="0"/>
                  </a:moveTo>
                  <a:lnTo>
                    <a:pt x="4625568" y="0"/>
                  </a:lnTo>
                  <a:cubicBezTo>
                    <a:pt x="4626327" y="0"/>
                    <a:pt x="4627056" y="302"/>
                    <a:pt x="4627592" y="838"/>
                  </a:cubicBezTo>
                  <a:cubicBezTo>
                    <a:pt x="4628129" y="1375"/>
                    <a:pt x="4628430" y="2103"/>
                    <a:pt x="4628430" y="2862"/>
                  </a:cubicBezTo>
                  <a:lnTo>
                    <a:pt x="4628430" y="2989183"/>
                  </a:lnTo>
                  <a:cubicBezTo>
                    <a:pt x="4628430" y="2990763"/>
                    <a:pt x="4627149" y="2992045"/>
                    <a:pt x="4625568" y="2992045"/>
                  </a:cubicBezTo>
                  <a:lnTo>
                    <a:pt x="2862" y="2992045"/>
                  </a:lnTo>
                  <a:cubicBezTo>
                    <a:pt x="2103" y="2992045"/>
                    <a:pt x="1375" y="2991743"/>
                    <a:pt x="838" y="2991207"/>
                  </a:cubicBezTo>
                  <a:cubicBezTo>
                    <a:pt x="302" y="2990670"/>
                    <a:pt x="0" y="2989942"/>
                    <a:pt x="0" y="2989183"/>
                  </a:cubicBezTo>
                  <a:lnTo>
                    <a:pt x="0" y="2862"/>
                  </a:lnTo>
                  <a:cubicBezTo>
                    <a:pt x="0" y="2103"/>
                    <a:pt x="302" y="1375"/>
                    <a:pt x="838" y="838"/>
                  </a:cubicBezTo>
                  <a:cubicBezTo>
                    <a:pt x="1375" y="302"/>
                    <a:pt x="2103" y="0"/>
                    <a:pt x="2862" y="0"/>
                  </a:cubicBezTo>
                  <a:close/>
                </a:path>
              </a:pathLst>
            </a:custGeom>
            <a:solidFill>
              <a:srgbClr val="92BA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 txBox="1"/>
            <p:nvPr/>
          </p:nvSpPr>
          <p:spPr>
            <a:xfrm>
              <a:off x="0" y="-38100"/>
              <a:ext cx="4628430" cy="3030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4"/>
          <p:cNvSpPr txBox="1"/>
          <p:nvPr/>
        </p:nvSpPr>
        <p:spPr>
          <a:xfrm>
            <a:off x="5193333" y="-66337"/>
            <a:ext cx="7692238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5005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ctr" rtl="0">
              <a:lnSpc>
                <a:spcPct val="104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000" b="1" i="0" u="none" strike="noStrike" cap="none" dirty="0" smtClean="0">
                <a:solidFill>
                  <a:srgbClr val="000000"/>
                </a:solidFill>
                <a:sym typeface="Arial"/>
              </a:rPr>
              <a:t>Lý</a:t>
            </a:r>
            <a:r>
              <a:rPr lang="en-US" sz="4000" b="1" i="0" u="none" strike="noStrike" cap="none" dirty="0" smtClean="0">
                <a:solidFill>
                  <a:srgbClr val="000000"/>
                </a:solidFill>
                <a:sym typeface="Arial"/>
              </a:rPr>
              <a:t> </a:t>
            </a:r>
            <a:r>
              <a:rPr lang="en-US" sz="4000" b="1" i="0" u="none" strike="noStrike" cap="none" dirty="0">
                <a:solidFill>
                  <a:srgbClr val="000000"/>
                </a:solidFill>
                <a:sym typeface="Arial"/>
              </a:rPr>
              <a:t>do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sym typeface="Arial"/>
              </a:rPr>
              <a:t>lựa</a:t>
            </a:r>
            <a:r>
              <a:rPr lang="en-US" sz="4000" b="1" i="0" u="none" strike="noStrike" cap="none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sym typeface="Arial"/>
              </a:rPr>
              <a:t>chọn</a:t>
            </a:r>
            <a:r>
              <a:rPr lang="en-US" sz="4000" b="1" i="0" u="none" strike="noStrike" cap="none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sym typeface="Arial"/>
              </a:rPr>
              <a:t>đề</a:t>
            </a:r>
            <a:r>
              <a:rPr lang="en-US" sz="4000" b="1" i="0" u="none" strike="noStrike" cap="none" dirty="0">
                <a:solidFill>
                  <a:srgbClr val="000000"/>
                </a:solidFill>
                <a:sym typeface="Arial"/>
              </a:rPr>
              <a:t> </a:t>
            </a:r>
            <a:r>
              <a:rPr lang="en-US" sz="4000" b="1" i="0" u="none" strike="noStrike" cap="none" dirty="0" err="1">
                <a:solidFill>
                  <a:srgbClr val="000000"/>
                </a:solidFill>
                <a:sym typeface="Arial"/>
              </a:rPr>
              <a:t>tài</a:t>
            </a:r>
            <a:endParaRPr sz="4000" dirty="0"/>
          </a:p>
        </p:txBody>
      </p:sp>
      <p:grpSp>
        <p:nvGrpSpPr>
          <p:cNvPr id="165" name="Google Shape;165;p4"/>
          <p:cNvGrpSpPr/>
          <p:nvPr/>
        </p:nvGrpSpPr>
        <p:grpSpPr>
          <a:xfrm>
            <a:off x="17773650" y="9740030"/>
            <a:ext cx="556708" cy="589328"/>
            <a:chOff x="0" y="-47625"/>
            <a:chExt cx="812800" cy="860425"/>
          </a:xfrm>
        </p:grpSpPr>
        <p:sp>
          <p:nvSpPr>
            <p:cNvPr id="166" name="Google Shape;166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69533" y="0"/>
                  </a:moveTo>
                  <a:lnTo>
                    <a:pt x="743267" y="0"/>
                  </a:lnTo>
                  <a:cubicBezTo>
                    <a:pt x="761708" y="0"/>
                    <a:pt x="779394" y="7326"/>
                    <a:pt x="792434" y="20366"/>
                  </a:cubicBezTo>
                  <a:cubicBezTo>
                    <a:pt x="805474" y="33406"/>
                    <a:pt x="812800" y="51092"/>
                    <a:pt x="812800" y="69533"/>
                  </a:cubicBezTo>
                  <a:lnTo>
                    <a:pt x="812800" y="743267"/>
                  </a:lnTo>
                  <a:cubicBezTo>
                    <a:pt x="812800" y="761708"/>
                    <a:pt x="805474" y="779394"/>
                    <a:pt x="792434" y="792434"/>
                  </a:cubicBezTo>
                  <a:cubicBezTo>
                    <a:pt x="779394" y="805474"/>
                    <a:pt x="761708" y="812800"/>
                    <a:pt x="743267" y="812800"/>
                  </a:cubicBezTo>
                  <a:lnTo>
                    <a:pt x="69533" y="812800"/>
                  </a:lnTo>
                  <a:cubicBezTo>
                    <a:pt x="51092" y="812800"/>
                    <a:pt x="33406" y="805474"/>
                    <a:pt x="20366" y="792434"/>
                  </a:cubicBezTo>
                  <a:cubicBezTo>
                    <a:pt x="7326" y="779394"/>
                    <a:pt x="0" y="761708"/>
                    <a:pt x="0" y="743267"/>
                  </a:cubicBezTo>
                  <a:lnTo>
                    <a:pt x="0" y="69533"/>
                  </a:lnTo>
                  <a:cubicBezTo>
                    <a:pt x="0" y="51092"/>
                    <a:pt x="7326" y="33406"/>
                    <a:pt x="20366" y="20366"/>
                  </a:cubicBezTo>
                  <a:cubicBezTo>
                    <a:pt x="33406" y="7326"/>
                    <a:pt x="51092" y="0"/>
                    <a:pt x="69533" y="0"/>
                  </a:cubicBezTo>
                  <a:close/>
                </a:path>
              </a:pathLst>
            </a:custGeom>
            <a:solidFill>
              <a:srgbClr val="EAEE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10</a:t>
              </a:r>
              <a:endParaRPr/>
            </a:p>
          </p:txBody>
        </p:sp>
      </p:grpSp>
      <p:sp>
        <p:nvSpPr>
          <p:cNvPr id="171" name="Google Shape;171;p4"/>
          <p:cNvSpPr txBox="1"/>
          <p:nvPr/>
        </p:nvSpPr>
        <p:spPr>
          <a:xfrm>
            <a:off x="2942772" y="1612205"/>
            <a:ext cx="12193361" cy="761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8019"/>
              </a:lnSpc>
            </a:pPr>
            <a:r>
              <a:rPr lang="en-US" sz="3600" i="0" u="none" strike="noStrike" cap="none" dirty="0" smtClean="0">
                <a:solidFill>
                  <a:srgbClr val="000000"/>
                </a:solidFill>
                <a:sym typeface="Arial"/>
              </a:rPr>
              <a:t>-</a:t>
            </a:r>
            <a:r>
              <a:rPr lang="vi-VN" sz="3600" dirty="0"/>
              <a:t>Thị trường thể thao phát triển </a:t>
            </a:r>
            <a:r>
              <a:rPr lang="vi-VN" sz="3600" dirty="0" smtClean="0"/>
              <a:t>mạnh đặc biệt qua hình thức trực tuyến.</a:t>
            </a:r>
          </a:p>
          <a:p>
            <a:pPr lvl="0" algn="just">
              <a:lnSpc>
                <a:spcPct val="158019"/>
              </a:lnSpc>
            </a:pPr>
            <a:endParaRPr lang="vi-VN" sz="3600" i="0" u="none" strike="noStrike" cap="none" dirty="0" smtClean="0">
              <a:solidFill>
                <a:srgbClr val="000000"/>
              </a:solidFill>
              <a:sym typeface="Arial"/>
            </a:endParaRPr>
          </a:p>
          <a:p>
            <a:pPr algn="just">
              <a:lnSpc>
                <a:spcPct val="158019"/>
              </a:lnSpc>
            </a:pPr>
            <a:r>
              <a:rPr lang="en-US" sz="3600" dirty="0" smtClean="0"/>
              <a:t>- </a:t>
            </a:r>
            <a:r>
              <a:rPr lang="en-US" sz="3600" dirty="0" err="1" smtClean="0"/>
              <a:t>Ứng</a:t>
            </a:r>
            <a:r>
              <a:rPr lang="en-US" sz="3600" dirty="0" smtClean="0"/>
              <a:t> </a:t>
            </a:r>
            <a:r>
              <a:rPr lang="en-US" sz="3600" dirty="0" err="1" smtClean="0"/>
              <a:t>dụng</a:t>
            </a:r>
            <a:r>
              <a:rPr lang="en-US" sz="3600" dirty="0" smtClean="0"/>
              <a:t> </a:t>
            </a:r>
            <a:r>
              <a:rPr lang="en-US" sz="3600" dirty="0" err="1" smtClean="0"/>
              <a:t>kiến</a:t>
            </a:r>
            <a:r>
              <a:rPr lang="en-US" sz="3600" dirty="0" smtClean="0"/>
              <a:t> </a:t>
            </a:r>
            <a:r>
              <a:rPr lang="en-US" sz="3600" dirty="0" err="1" smtClean="0"/>
              <a:t>thức</a:t>
            </a:r>
            <a:r>
              <a:rPr lang="en-US" sz="3600" dirty="0" smtClean="0"/>
              <a:t> </a:t>
            </a:r>
            <a:r>
              <a:rPr lang="en-US" sz="3600" dirty="0" err="1" smtClean="0"/>
              <a:t>đã</a:t>
            </a:r>
            <a:r>
              <a:rPr lang="en-US" sz="3600" dirty="0" smtClean="0"/>
              <a:t> </a:t>
            </a:r>
            <a:r>
              <a:rPr lang="en-US" sz="3600" dirty="0" err="1" smtClean="0"/>
              <a:t>học</a:t>
            </a:r>
            <a:r>
              <a:rPr lang="en-US" sz="3600" dirty="0" smtClean="0"/>
              <a:t> </a:t>
            </a:r>
            <a:r>
              <a:rPr lang="en-US" sz="3600" dirty="0" err="1" smtClean="0"/>
              <a:t>vào</a:t>
            </a:r>
            <a:r>
              <a:rPr lang="en-US" sz="3600" dirty="0" smtClean="0"/>
              <a:t> </a:t>
            </a:r>
            <a:r>
              <a:rPr lang="en-US" sz="3600" dirty="0" err="1" smtClean="0"/>
              <a:t>thực</a:t>
            </a:r>
            <a:r>
              <a:rPr lang="en-US" sz="3600" dirty="0" smtClean="0"/>
              <a:t> </a:t>
            </a:r>
            <a:r>
              <a:rPr lang="en-US" sz="3600" dirty="0" err="1" smtClean="0"/>
              <a:t>tiễn</a:t>
            </a:r>
            <a:r>
              <a:rPr lang="vi-VN" sz="3600" dirty="0" smtClean="0"/>
              <a:t> vào xây </a:t>
            </a:r>
            <a:r>
              <a:rPr lang="vi-VN" sz="3600" dirty="0"/>
              <a:t>dựng một hệ thống thực </a:t>
            </a:r>
            <a:r>
              <a:rPr lang="vi-VN" sz="3600" dirty="0" smtClean="0"/>
              <a:t>tế</a:t>
            </a:r>
            <a:endParaRPr lang="en-US" sz="3600" dirty="0" smtClean="0"/>
          </a:p>
          <a:p>
            <a:pPr lvl="0" algn="just">
              <a:lnSpc>
                <a:spcPct val="158019"/>
              </a:lnSpc>
            </a:pPr>
            <a:endParaRPr sz="3600" i="0" u="none" strike="noStrike" cap="none" dirty="0" smtClean="0">
              <a:solidFill>
                <a:srgbClr val="000000"/>
              </a:solidFill>
              <a:sym typeface="Arial"/>
            </a:endParaRPr>
          </a:p>
          <a:p>
            <a:pPr lvl="0" algn="just">
              <a:lnSpc>
                <a:spcPct val="158019"/>
              </a:lnSpc>
            </a:pPr>
            <a:r>
              <a:rPr lang="en-US" sz="3600" i="0" u="none" strike="noStrike" cap="none" dirty="0" smtClean="0">
                <a:solidFill>
                  <a:srgbClr val="000000"/>
                </a:solidFill>
                <a:sym typeface="Arial"/>
              </a:rPr>
              <a:t>-</a:t>
            </a:r>
            <a:r>
              <a:rPr lang="vi-VN" sz="3600" i="0" u="none" strike="noStrike" cap="none" dirty="0" smtClean="0">
                <a:solidFill>
                  <a:srgbClr val="000000"/>
                </a:solidFill>
                <a:sym typeface="Arial"/>
              </a:rPr>
              <a:t> </a:t>
            </a:r>
            <a:r>
              <a:rPr lang="en-US" sz="3600" dirty="0" err="1" smtClean="0"/>
              <a:t>Đề</a:t>
            </a:r>
            <a:r>
              <a:rPr lang="en-US" sz="3600" dirty="0" smtClean="0"/>
              <a:t> </a:t>
            </a:r>
            <a:r>
              <a:rPr lang="en-US" sz="3600" dirty="0" err="1"/>
              <a:t>tài</a:t>
            </a:r>
            <a:r>
              <a:rPr lang="en-US" sz="3600" dirty="0"/>
              <a:t> </a:t>
            </a:r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phỏng</a:t>
            </a:r>
            <a:r>
              <a:rPr lang="en-US" sz="3600" dirty="0"/>
              <a:t> </a:t>
            </a:r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</a:t>
            </a:r>
            <a:r>
              <a:rPr lang="en-US" sz="3600" dirty="0" err="1"/>
              <a:t>kinh</a:t>
            </a:r>
            <a:r>
              <a:rPr lang="en-US" sz="3600" dirty="0"/>
              <a:t> </a:t>
            </a:r>
            <a:r>
              <a:rPr lang="en-US" sz="3600" dirty="0" err="1"/>
              <a:t>doanh</a:t>
            </a:r>
            <a:r>
              <a:rPr lang="en-US" sz="3600" dirty="0"/>
              <a:t> </a:t>
            </a:r>
            <a:r>
              <a:rPr lang="en-US" sz="3600" dirty="0" err="1"/>
              <a:t>thực</a:t>
            </a:r>
            <a:r>
              <a:rPr lang="en-US" sz="3600" dirty="0"/>
              <a:t> </a:t>
            </a:r>
            <a:r>
              <a:rPr lang="vi-VN" sz="3600" dirty="0" smtClean="0"/>
              <a:t>tế </a:t>
            </a:r>
            <a:r>
              <a:rPr lang="en-US" sz="3600" dirty="0" err="1" smtClean="0"/>
              <a:t>có</a:t>
            </a:r>
            <a:r>
              <a:rPr lang="en-US" sz="3600" dirty="0" smtClean="0"/>
              <a:t> </a:t>
            </a:r>
            <a:r>
              <a:rPr lang="en-US" sz="3600" dirty="0" err="1"/>
              <a:t>thể</a:t>
            </a:r>
            <a:r>
              <a:rPr lang="en-US" sz="3600" dirty="0"/>
              <a:t> </a:t>
            </a:r>
            <a:r>
              <a:rPr lang="en-US" sz="3600" dirty="0" err="1"/>
              <a:t>áp</a:t>
            </a:r>
            <a:r>
              <a:rPr lang="en-US" sz="3600" dirty="0"/>
              <a:t> </a:t>
            </a:r>
            <a:r>
              <a:rPr lang="en-US" sz="3600" dirty="0" err="1"/>
              <a:t>dụng</a:t>
            </a:r>
            <a:r>
              <a:rPr lang="en-US" sz="3600" dirty="0"/>
              <a:t> </a:t>
            </a:r>
            <a:r>
              <a:rPr lang="en-US" sz="3600" dirty="0" err="1"/>
              <a:t>cho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cửa</a:t>
            </a:r>
            <a:r>
              <a:rPr lang="en-US" sz="3600" dirty="0"/>
              <a:t> </a:t>
            </a:r>
            <a:r>
              <a:rPr lang="en-US" sz="3600" dirty="0" err="1"/>
              <a:t>hàng</a:t>
            </a:r>
            <a:r>
              <a:rPr lang="en-US" sz="3600" dirty="0"/>
              <a:t> </a:t>
            </a:r>
            <a:r>
              <a:rPr lang="en-US" sz="3600" dirty="0" err="1"/>
              <a:t>thể</a:t>
            </a:r>
            <a:r>
              <a:rPr lang="en-US" sz="3600" dirty="0"/>
              <a:t> </a:t>
            </a:r>
            <a:r>
              <a:rPr lang="en-US" sz="3600" dirty="0" err="1"/>
              <a:t>thao</a:t>
            </a:r>
            <a:r>
              <a:rPr lang="en-US" sz="3600" dirty="0"/>
              <a:t> </a:t>
            </a:r>
            <a:r>
              <a:rPr lang="en-US" sz="3600" dirty="0" err="1" smtClean="0"/>
              <a:t>kinh</a:t>
            </a:r>
            <a:r>
              <a:rPr lang="en-US" sz="3600" dirty="0" smtClean="0"/>
              <a:t> </a:t>
            </a:r>
            <a:r>
              <a:rPr lang="en-US" sz="3600" dirty="0" err="1"/>
              <a:t>doanh</a:t>
            </a:r>
            <a:r>
              <a:rPr lang="en-US" sz="3600" dirty="0"/>
              <a:t> online.</a:t>
            </a:r>
            <a:endParaRPr sz="3600" dirty="0"/>
          </a:p>
          <a:p>
            <a:pPr marL="0" marR="0" lvl="0" indent="0" algn="just" rtl="0">
              <a:lnSpc>
                <a:spcPct val="1316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9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38100"/>
              <a:ext cx="4274726" cy="2129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4883" y="1028700"/>
            <a:ext cx="673013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3435542" y="2353701"/>
            <a:ext cx="3317996" cy="44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925" b="0" i="0" u="none" strike="noStrike" cap="none" dirty="0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 dirty="0"/>
          </a:p>
        </p:txBody>
      </p:sp>
      <p:sp>
        <p:nvSpPr>
          <p:cNvPr id="181" name="Google Shape;181;p5"/>
          <p:cNvSpPr txBox="1"/>
          <p:nvPr/>
        </p:nvSpPr>
        <p:spPr>
          <a:xfrm>
            <a:off x="1367578" y="5764411"/>
            <a:ext cx="7453924" cy="201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9352" b="0" i="0" u="none" strike="noStrike" cap="none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 MỤC TIÊU </a:t>
            </a:r>
            <a:r>
              <a:rPr lang="vi-VN" sz="9352" b="0" i="0" u="none" strike="noStrike" cap="none" dirty="0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ĐỀ TÀI</a:t>
            </a:r>
            <a:endParaRPr dirty="0"/>
          </a:p>
        </p:txBody>
      </p:sp>
      <p:sp>
        <p:nvSpPr>
          <p:cNvPr id="8" name="Google Shape;87;p1"/>
          <p:cNvSpPr/>
          <p:nvPr/>
        </p:nvSpPr>
        <p:spPr>
          <a:xfrm>
            <a:off x="0" y="0"/>
            <a:ext cx="18288000" cy="2411903"/>
          </a:xfrm>
          <a:custGeom>
            <a:avLst/>
            <a:gdLst/>
            <a:ahLst/>
            <a:cxnLst/>
            <a:rect l="l" t="t" r="r" b="b"/>
            <a:pathLst>
              <a:path w="12712661" h="2444882" extrusionOk="0">
                <a:moveTo>
                  <a:pt x="0" y="0"/>
                </a:moveTo>
                <a:lnTo>
                  <a:pt x="12712661" y="0"/>
                </a:lnTo>
                <a:lnTo>
                  <a:pt x="12712661" y="2444882"/>
                </a:lnTo>
                <a:lnTo>
                  <a:pt x="0" y="2444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6283" b="-629497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4224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6"/>
          <p:cNvGrpSpPr/>
          <p:nvPr/>
        </p:nvGrpSpPr>
        <p:grpSpPr>
          <a:xfrm>
            <a:off x="2017109" y="1116159"/>
            <a:ext cx="16025917" cy="6823881"/>
            <a:chOff x="0" y="-4839"/>
            <a:chExt cx="4349276" cy="2437752"/>
          </a:xfrm>
        </p:grpSpPr>
        <p:sp>
          <p:nvSpPr>
            <p:cNvPr id="187" name="Google Shape;187;p6"/>
            <p:cNvSpPr/>
            <p:nvPr/>
          </p:nvSpPr>
          <p:spPr>
            <a:xfrm>
              <a:off x="0" y="0"/>
              <a:ext cx="3852957" cy="2399652"/>
            </a:xfrm>
            <a:custGeom>
              <a:avLst/>
              <a:gdLst/>
              <a:ahLst/>
              <a:cxnLst/>
              <a:rect l="l" t="t" r="r" b="b"/>
              <a:pathLst>
                <a:path w="3852957" h="2399652" extrusionOk="0">
                  <a:moveTo>
                    <a:pt x="19086" y="0"/>
                  </a:moveTo>
                  <a:lnTo>
                    <a:pt x="3833871" y="0"/>
                  </a:lnTo>
                  <a:cubicBezTo>
                    <a:pt x="3844412" y="0"/>
                    <a:pt x="3852957" y="8545"/>
                    <a:pt x="3852957" y="19086"/>
                  </a:cubicBezTo>
                  <a:lnTo>
                    <a:pt x="3852957" y="2380566"/>
                  </a:lnTo>
                  <a:cubicBezTo>
                    <a:pt x="3852957" y="2391106"/>
                    <a:pt x="3844412" y="2399652"/>
                    <a:pt x="3833871" y="2399652"/>
                  </a:cubicBezTo>
                  <a:lnTo>
                    <a:pt x="19086" y="2399652"/>
                  </a:lnTo>
                  <a:cubicBezTo>
                    <a:pt x="8545" y="2399652"/>
                    <a:pt x="0" y="2391106"/>
                    <a:pt x="0" y="2380566"/>
                  </a:cubicBezTo>
                  <a:lnTo>
                    <a:pt x="0" y="19086"/>
                  </a:lnTo>
                  <a:cubicBezTo>
                    <a:pt x="0" y="8545"/>
                    <a:pt x="8545" y="0"/>
                    <a:pt x="19086" y="0"/>
                  </a:cubicBezTo>
                  <a:close/>
                </a:path>
              </a:pathLst>
            </a:custGeom>
            <a:solidFill>
              <a:srgbClr val="334A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 txBox="1"/>
            <p:nvPr/>
          </p:nvSpPr>
          <p:spPr>
            <a:xfrm>
              <a:off x="496319" y="-4839"/>
              <a:ext cx="3852957" cy="2437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6"/>
          <p:cNvSpPr txBox="1"/>
          <p:nvPr/>
        </p:nvSpPr>
        <p:spPr>
          <a:xfrm>
            <a:off x="4598316" y="107549"/>
            <a:ext cx="9034700" cy="100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 b="1" i="0" u="none" strike="noStrike" cap="none" dirty="0">
                <a:solidFill>
                  <a:srgbClr val="0C1D4B"/>
                </a:solidFill>
                <a:latin typeface="+mj-lt"/>
                <a:ea typeface="Ultra"/>
                <a:cs typeface="Ultra"/>
                <a:sym typeface="Ultra"/>
              </a:rPr>
              <a:t>MỤC TIÊU ĐỀ TÀI</a:t>
            </a:r>
            <a:endParaRPr sz="5800" dirty="0">
              <a:latin typeface="+mj-lt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612058" y="1412099"/>
            <a:ext cx="12993702" cy="652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12470" lvl="1" indent="-356235" algn="just">
              <a:lnSpc>
                <a:spcPct val="140000"/>
              </a:lnSpc>
              <a:buClr>
                <a:srgbClr val="FFFFFF"/>
              </a:buClr>
              <a:buSzPts val="3300"/>
              <a:buFont typeface="Arial"/>
              <a:buChar char="•"/>
            </a:pPr>
            <a:r>
              <a:rPr lang="vi-VN" sz="3300" dirty="0" smtClean="0">
                <a:solidFill>
                  <a:schemeClr val="bg1"/>
                </a:solidFill>
              </a:rPr>
              <a:t>Xây </a:t>
            </a:r>
            <a:r>
              <a:rPr lang="vi-VN" sz="3300" dirty="0">
                <a:solidFill>
                  <a:schemeClr val="bg1"/>
                </a:solidFill>
              </a:rPr>
              <a:t>dựng một website </a:t>
            </a:r>
            <a:r>
              <a:rPr lang="vi-VN" sz="3300" dirty="0" smtClean="0">
                <a:solidFill>
                  <a:schemeClr val="bg1"/>
                </a:solidFill>
              </a:rPr>
              <a:t>giúp </a:t>
            </a:r>
            <a:r>
              <a:rPr lang="vi-VN" sz="3300" dirty="0">
                <a:solidFill>
                  <a:schemeClr val="bg1"/>
                </a:solidFill>
              </a:rPr>
              <a:t>người dùng dễ dàng </a:t>
            </a:r>
            <a:r>
              <a:rPr lang="vi-VN" sz="3300" dirty="0" smtClean="0">
                <a:solidFill>
                  <a:schemeClr val="bg1"/>
                </a:solidFill>
              </a:rPr>
              <a:t>thao tác với sản </a:t>
            </a:r>
            <a:r>
              <a:rPr lang="vi-VN" sz="3300" dirty="0">
                <a:solidFill>
                  <a:schemeClr val="bg1"/>
                </a:solidFill>
              </a:rPr>
              <a:t>phẩm và đặt hàng nhanh chóng</a:t>
            </a:r>
            <a:r>
              <a:rPr lang="vi-VN" sz="3300" dirty="0" smtClean="0">
                <a:solidFill>
                  <a:schemeClr val="bg1"/>
                </a:solidFill>
              </a:rPr>
              <a:t>.</a:t>
            </a:r>
          </a:p>
          <a:p>
            <a:pPr marL="356235" lvl="1" algn="just">
              <a:lnSpc>
                <a:spcPct val="140000"/>
              </a:lnSpc>
              <a:buClr>
                <a:srgbClr val="FFFFFF"/>
              </a:buClr>
              <a:buSzPts val="3300"/>
            </a:pPr>
            <a:endParaRPr sz="3300" b="0" i="0" u="none" strike="noStrike" cap="none" dirty="0">
              <a:solidFill>
                <a:schemeClr val="bg1"/>
              </a:solidFill>
              <a:sym typeface="Arial"/>
            </a:endParaRPr>
          </a:p>
          <a:p>
            <a:pPr marL="712470" lvl="1" indent="-356235" algn="just">
              <a:lnSpc>
                <a:spcPct val="140000"/>
              </a:lnSpc>
              <a:buClr>
                <a:srgbClr val="FFFFFF"/>
              </a:buClr>
              <a:buSzPts val="3300"/>
              <a:buFont typeface="Arial"/>
              <a:buChar char="•"/>
            </a:pPr>
            <a:r>
              <a:rPr lang="vi-VN" sz="3600" dirty="0">
                <a:solidFill>
                  <a:schemeClr val="bg1"/>
                </a:solidFill>
              </a:rPr>
              <a:t>Áp dụng cơ chế xác thực và phân quyền bằng token </a:t>
            </a:r>
            <a:r>
              <a:rPr lang="vi-VN" sz="3600" dirty="0" smtClean="0">
                <a:solidFill>
                  <a:schemeClr val="bg1"/>
                </a:solidFill>
              </a:rPr>
              <a:t>JWT.</a:t>
            </a:r>
          </a:p>
          <a:p>
            <a:pPr marL="356235" lvl="1" algn="just">
              <a:lnSpc>
                <a:spcPct val="140000"/>
              </a:lnSpc>
              <a:buClr>
                <a:srgbClr val="FFFFFF"/>
              </a:buClr>
              <a:buSzPts val="3300"/>
            </a:pPr>
            <a:endParaRPr sz="3300" b="0" i="0" u="none" strike="noStrike" cap="none" dirty="0">
              <a:solidFill>
                <a:schemeClr val="bg1"/>
              </a:solidFill>
              <a:sym typeface="Arial"/>
            </a:endParaRPr>
          </a:p>
          <a:p>
            <a:pPr marL="712470" marR="0" lvl="1" indent="-35623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Char char="•"/>
            </a:pPr>
            <a:r>
              <a:rPr lang="en-US" sz="3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Tích</a:t>
            </a:r>
            <a:r>
              <a:rPr lang="en-US" sz="3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r>
              <a:rPr lang="en-US" sz="3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chức</a:t>
            </a:r>
            <a:r>
              <a:rPr lang="en-US" sz="3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năng</a:t>
            </a:r>
            <a:r>
              <a:rPr lang="en-US" sz="3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thanh</a:t>
            </a:r>
            <a:r>
              <a:rPr lang="en-US" sz="3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toán</a:t>
            </a:r>
            <a:r>
              <a:rPr lang="en-US" sz="3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trực</a:t>
            </a:r>
            <a:r>
              <a:rPr lang="en-US" sz="33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00" b="0" i="0" u="none" strike="noStrike" cap="none" dirty="0" err="1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tuyến</a:t>
            </a:r>
            <a:r>
              <a:rPr lang="vi-VN" sz="3300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56235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</a:pPr>
            <a:endParaRPr lang="vi-VN" sz="3300" b="0" i="0" u="none" strike="noStrike" cap="none" dirty="0" smtClea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12470" lvl="1" indent="-356235" algn="just">
              <a:lnSpc>
                <a:spcPct val="140000"/>
              </a:lnSpc>
              <a:buClr>
                <a:srgbClr val="FFFFFF"/>
              </a:buClr>
              <a:buSzPts val="3300"/>
              <a:buFont typeface="Arial"/>
              <a:buChar char="•"/>
            </a:pPr>
            <a:r>
              <a:rPr lang="vi-VN" sz="3600" dirty="0">
                <a:solidFill>
                  <a:schemeClr val="bg1"/>
                </a:solidFill>
              </a:rPr>
              <a:t>Tích hợp hệ thống chatbot gợi ý sản phẩm thông </a:t>
            </a:r>
            <a:r>
              <a:rPr lang="vi-VN" sz="3600" dirty="0" smtClean="0">
                <a:solidFill>
                  <a:schemeClr val="bg1"/>
                </a:solidFill>
              </a:rPr>
              <a:t>minh.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38100"/>
              <a:ext cx="4274726" cy="2129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4883" y="1943100"/>
            <a:ext cx="673013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3322320" y="2316782"/>
            <a:ext cx="3119876" cy="44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925" b="0" i="0" u="none" strike="noStrike" cap="none" dirty="0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 dirty="0"/>
          </a:p>
        </p:txBody>
      </p:sp>
      <p:sp>
        <p:nvSpPr>
          <p:cNvPr id="181" name="Google Shape;181;p5"/>
          <p:cNvSpPr txBox="1"/>
          <p:nvPr/>
        </p:nvSpPr>
        <p:spPr>
          <a:xfrm>
            <a:off x="503601" y="5727491"/>
            <a:ext cx="9237004" cy="201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40002"/>
              </a:lnSpc>
            </a:pPr>
            <a:r>
              <a:rPr lang="vi-VN" sz="9352" dirty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CÔNG NGHỆ  SỬ DỤNG</a:t>
            </a:r>
            <a:endParaRPr lang="vi-VN" sz="9600" dirty="0"/>
          </a:p>
        </p:txBody>
      </p:sp>
      <p:sp>
        <p:nvSpPr>
          <p:cNvPr id="8" name="Google Shape;87;p1"/>
          <p:cNvSpPr/>
          <p:nvPr/>
        </p:nvSpPr>
        <p:spPr>
          <a:xfrm>
            <a:off x="0" y="0"/>
            <a:ext cx="18288000" cy="2411903"/>
          </a:xfrm>
          <a:custGeom>
            <a:avLst/>
            <a:gdLst/>
            <a:ahLst/>
            <a:cxnLst/>
            <a:rect l="l" t="t" r="r" b="b"/>
            <a:pathLst>
              <a:path w="12712661" h="2444882" extrusionOk="0">
                <a:moveTo>
                  <a:pt x="0" y="0"/>
                </a:moveTo>
                <a:lnTo>
                  <a:pt x="12712661" y="0"/>
                </a:lnTo>
                <a:lnTo>
                  <a:pt x="12712661" y="2444882"/>
                </a:lnTo>
                <a:lnTo>
                  <a:pt x="0" y="2444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6283" b="-629497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4571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9094" y="193964"/>
            <a:ext cx="4281741" cy="905020"/>
          </a:xfrm>
        </p:spPr>
        <p:txBody>
          <a:bodyPr>
            <a:noAutofit/>
          </a:bodyPr>
          <a:lstStyle/>
          <a:p>
            <a:pPr algn="ctr"/>
            <a:r>
              <a:rPr lang="vi-VN" sz="4000" b="1" dirty="0" smtClean="0">
                <a:solidFill>
                  <a:schemeClr val="tx1"/>
                </a:solidFill>
                <a:latin typeface="+mn-lt"/>
              </a:rPr>
              <a:t>BACK END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53982" y="1744087"/>
            <a:ext cx="30276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+mn-lt"/>
                <a:ea typeface="Batang"/>
              </a:rPr>
              <a:t>ASP.NET Core</a:t>
            </a:r>
            <a:endParaRPr lang="en-US" sz="2800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11791" y="1682532"/>
            <a:ext cx="36247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latin typeface="+mn-lt"/>
                <a:ea typeface="Batang"/>
              </a:rPr>
              <a:t>Entity Framework</a:t>
            </a:r>
            <a:endParaRPr lang="en-US" sz="3200" b="1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69667" y="1682532"/>
            <a:ext cx="27621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latin typeface="+mn-lt"/>
                <a:ea typeface="Batang"/>
              </a:rPr>
              <a:t>SQL Server</a:t>
            </a:r>
            <a:endParaRPr lang="en-US" sz="3200" b="1" dirty="0">
              <a:latin typeface="+mn-lt"/>
            </a:endParaRPr>
          </a:p>
        </p:txBody>
      </p:sp>
      <p:pic>
        <p:nvPicPr>
          <p:cNvPr id="1026" name="Picture 2" descr="Build ASP.NET Core APIs with Kubernetes and OpenFaaS | OpenFaaS -  Serverless Functions Made Si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762" y="2881742"/>
            <a:ext cx="4153189" cy="4153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ting to Entity Framework Core - CodeOpin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136" y="2937161"/>
            <a:ext cx="4042352" cy="404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L Server là gì? Tổng hợp tất cả thông tin về SQL Server - Gimasy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319" y="3358286"/>
            <a:ext cx="4876800" cy="276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26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9753" y="307341"/>
            <a:ext cx="3895407" cy="713740"/>
          </a:xfrm>
        </p:spPr>
        <p:txBody>
          <a:bodyPr>
            <a:normAutofit/>
          </a:bodyPr>
          <a:lstStyle/>
          <a:p>
            <a:pPr algn="ctr"/>
            <a:r>
              <a:rPr lang="vi-VN" sz="4000" b="1" dirty="0" smtClean="0">
                <a:solidFill>
                  <a:schemeClr val="tx1"/>
                </a:solidFill>
                <a:latin typeface="+mn-lt"/>
              </a:rPr>
              <a:t>FRONT END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176" y="1344699"/>
            <a:ext cx="10775003" cy="769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27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5"/>
          <p:cNvGrpSpPr/>
          <p:nvPr/>
        </p:nvGrpSpPr>
        <p:grpSpPr>
          <a:xfrm>
            <a:off x="1882282" y="1165860"/>
            <a:ext cx="16230600" cy="8229600"/>
            <a:chOff x="0" y="0"/>
            <a:chExt cx="4274726" cy="2167467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38100"/>
              <a:ext cx="4274726" cy="2129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8243" y="2057400"/>
            <a:ext cx="673013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3469262" y="2316782"/>
            <a:ext cx="3028436" cy="44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925" b="0" i="0" u="none" strike="noStrike" cap="none" dirty="0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 dirty="0"/>
          </a:p>
        </p:txBody>
      </p:sp>
      <p:sp>
        <p:nvSpPr>
          <p:cNvPr id="181" name="Google Shape;181;p5"/>
          <p:cNvSpPr txBox="1"/>
          <p:nvPr/>
        </p:nvSpPr>
        <p:spPr>
          <a:xfrm>
            <a:off x="106680" y="5727492"/>
            <a:ext cx="9753600" cy="2014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40002"/>
              </a:lnSpc>
            </a:pPr>
            <a:r>
              <a:rPr lang="vi-VN" sz="9352" dirty="0" smtClean="0">
                <a:solidFill>
                  <a:srgbClr val="231C28"/>
                </a:solidFill>
                <a:latin typeface="Anton"/>
                <a:sym typeface="Anton"/>
              </a:rPr>
              <a:t>NỘI DUNG NGHIÊN CỨU</a:t>
            </a:r>
            <a:endParaRPr lang="vi-VN" sz="9600" dirty="0"/>
          </a:p>
        </p:txBody>
      </p:sp>
      <p:sp>
        <p:nvSpPr>
          <p:cNvPr id="9" name="Google Shape;87;p1"/>
          <p:cNvSpPr/>
          <p:nvPr/>
        </p:nvSpPr>
        <p:spPr>
          <a:xfrm>
            <a:off x="0" y="0"/>
            <a:ext cx="18288000" cy="2444882"/>
          </a:xfrm>
          <a:custGeom>
            <a:avLst/>
            <a:gdLst/>
            <a:ahLst/>
            <a:cxnLst/>
            <a:rect l="l" t="t" r="r" b="b"/>
            <a:pathLst>
              <a:path w="12712661" h="2444882" extrusionOk="0">
                <a:moveTo>
                  <a:pt x="0" y="0"/>
                </a:moveTo>
                <a:lnTo>
                  <a:pt x="12712661" y="0"/>
                </a:lnTo>
                <a:lnTo>
                  <a:pt x="12712661" y="2444882"/>
                </a:lnTo>
                <a:lnTo>
                  <a:pt x="0" y="2444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6283" b="-629497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8664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5FE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8"/>
          <p:cNvGrpSpPr/>
          <p:nvPr/>
        </p:nvGrpSpPr>
        <p:grpSpPr>
          <a:xfrm>
            <a:off x="5754330" y="3487018"/>
            <a:ext cx="7062714" cy="2238227"/>
            <a:chOff x="0" y="-28575"/>
            <a:chExt cx="1860139" cy="589492"/>
          </a:xfrm>
        </p:grpSpPr>
        <p:sp>
          <p:nvSpPr>
            <p:cNvPr id="217" name="Google Shape;217;p8"/>
            <p:cNvSpPr/>
            <p:nvPr/>
          </p:nvSpPr>
          <p:spPr>
            <a:xfrm>
              <a:off x="0" y="0"/>
              <a:ext cx="1860139" cy="560917"/>
            </a:xfrm>
            <a:custGeom>
              <a:avLst/>
              <a:gdLst/>
              <a:ahLst/>
              <a:cxnLst/>
              <a:rect l="l" t="t" r="r" b="b"/>
              <a:pathLst>
                <a:path w="1860139" h="560917" extrusionOk="0">
                  <a:moveTo>
                    <a:pt x="55905" y="0"/>
                  </a:moveTo>
                  <a:lnTo>
                    <a:pt x="1804234" y="0"/>
                  </a:lnTo>
                  <a:cubicBezTo>
                    <a:pt x="1835109" y="0"/>
                    <a:pt x="1860139" y="25029"/>
                    <a:pt x="1860139" y="55905"/>
                  </a:cubicBezTo>
                  <a:lnTo>
                    <a:pt x="1860139" y="505012"/>
                  </a:lnTo>
                  <a:cubicBezTo>
                    <a:pt x="1860139" y="535887"/>
                    <a:pt x="1835109" y="560917"/>
                    <a:pt x="1804234" y="560917"/>
                  </a:cubicBezTo>
                  <a:lnTo>
                    <a:pt x="55905" y="560917"/>
                  </a:lnTo>
                  <a:cubicBezTo>
                    <a:pt x="41078" y="560917"/>
                    <a:pt x="26858" y="555027"/>
                    <a:pt x="16374" y="544543"/>
                  </a:cubicBezTo>
                  <a:cubicBezTo>
                    <a:pt x="5890" y="534059"/>
                    <a:pt x="0" y="519839"/>
                    <a:pt x="0" y="505012"/>
                  </a:cubicBezTo>
                  <a:lnTo>
                    <a:pt x="0" y="55905"/>
                  </a:lnTo>
                  <a:cubicBezTo>
                    <a:pt x="0" y="41078"/>
                    <a:pt x="5890" y="26858"/>
                    <a:pt x="16374" y="16374"/>
                  </a:cubicBezTo>
                  <a:cubicBezTo>
                    <a:pt x="26858" y="5890"/>
                    <a:pt x="41078" y="0"/>
                    <a:pt x="55905" y="0"/>
                  </a:cubicBezTo>
                  <a:close/>
                </a:path>
              </a:pathLst>
            </a:custGeom>
            <a:solidFill>
              <a:srgbClr val="FFFBF7"/>
            </a:solidFill>
            <a:ln w="38100" cap="rnd" cmpd="sng">
              <a:solidFill>
                <a:srgbClr val="FFE0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0" y="-28575"/>
              <a:ext cx="1860139" cy="589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8"/>
          <p:cNvGrpSpPr/>
          <p:nvPr/>
        </p:nvGrpSpPr>
        <p:grpSpPr>
          <a:xfrm>
            <a:off x="3683752" y="949226"/>
            <a:ext cx="5175624" cy="1798563"/>
            <a:chOff x="0" y="-28575"/>
            <a:chExt cx="1363127" cy="473696"/>
          </a:xfrm>
        </p:grpSpPr>
        <p:sp>
          <p:nvSpPr>
            <p:cNvPr id="220" name="Google Shape;220;p8"/>
            <p:cNvSpPr/>
            <p:nvPr/>
          </p:nvSpPr>
          <p:spPr>
            <a:xfrm>
              <a:off x="0" y="0"/>
              <a:ext cx="1363127" cy="445121"/>
            </a:xfrm>
            <a:custGeom>
              <a:avLst/>
              <a:gdLst/>
              <a:ahLst/>
              <a:cxnLst/>
              <a:rect l="l" t="t" r="r" b="b"/>
              <a:pathLst>
                <a:path w="1363127" h="445121" extrusionOk="0">
                  <a:moveTo>
                    <a:pt x="47867" y="0"/>
                  </a:moveTo>
                  <a:lnTo>
                    <a:pt x="1315260" y="0"/>
                  </a:lnTo>
                  <a:cubicBezTo>
                    <a:pt x="1341697" y="0"/>
                    <a:pt x="1363127" y="21431"/>
                    <a:pt x="1363127" y="47867"/>
                  </a:cubicBezTo>
                  <a:lnTo>
                    <a:pt x="1363127" y="397254"/>
                  </a:lnTo>
                  <a:cubicBezTo>
                    <a:pt x="1363127" y="423690"/>
                    <a:pt x="1341697" y="445121"/>
                    <a:pt x="1315260" y="445121"/>
                  </a:cubicBezTo>
                  <a:lnTo>
                    <a:pt x="47867" y="445121"/>
                  </a:lnTo>
                  <a:cubicBezTo>
                    <a:pt x="21431" y="445121"/>
                    <a:pt x="0" y="423690"/>
                    <a:pt x="0" y="397254"/>
                  </a:cubicBezTo>
                  <a:lnTo>
                    <a:pt x="0" y="47867"/>
                  </a:lnTo>
                  <a:cubicBezTo>
                    <a:pt x="0" y="21431"/>
                    <a:pt x="21431" y="0"/>
                    <a:pt x="47867" y="0"/>
                  </a:cubicBezTo>
                  <a:close/>
                </a:path>
              </a:pathLst>
            </a:custGeom>
            <a:solidFill>
              <a:srgbClr val="FFFBF7"/>
            </a:solidFill>
            <a:ln w="38100" cap="rnd" cmpd="sng">
              <a:solidFill>
                <a:srgbClr val="FFE0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0" y="-28575"/>
              <a:ext cx="1363127" cy="473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8"/>
          <p:cNvGrpSpPr/>
          <p:nvPr/>
        </p:nvGrpSpPr>
        <p:grpSpPr>
          <a:xfrm>
            <a:off x="3837900" y="7013109"/>
            <a:ext cx="5021476" cy="1798563"/>
            <a:chOff x="0" y="-28575"/>
            <a:chExt cx="1322529" cy="473696"/>
          </a:xfrm>
        </p:grpSpPr>
        <p:sp>
          <p:nvSpPr>
            <p:cNvPr id="223" name="Google Shape;223;p8"/>
            <p:cNvSpPr/>
            <p:nvPr/>
          </p:nvSpPr>
          <p:spPr>
            <a:xfrm>
              <a:off x="0" y="0"/>
              <a:ext cx="1322529" cy="445121"/>
            </a:xfrm>
            <a:custGeom>
              <a:avLst/>
              <a:gdLst/>
              <a:ahLst/>
              <a:cxnLst/>
              <a:rect l="l" t="t" r="r" b="b"/>
              <a:pathLst>
                <a:path w="1322529" h="445121" extrusionOk="0">
                  <a:moveTo>
                    <a:pt x="49336" y="0"/>
                  </a:moveTo>
                  <a:lnTo>
                    <a:pt x="1273192" y="0"/>
                  </a:lnTo>
                  <a:cubicBezTo>
                    <a:pt x="1300440" y="0"/>
                    <a:pt x="1322529" y="22089"/>
                    <a:pt x="1322529" y="49336"/>
                  </a:cubicBezTo>
                  <a:lnTo>
                    <a:pt x="1322529" y="395784"/>
                  </a:lnTo>
                  <a:cubicBezTo>
                    <a:pt x="1322529" y="423032"/>
                    <a:pt x="1300440" y="445121"/>
                    <a:pt x="1273192" y="445121"/>
                  </a:cubicBezTo>
                  <a:lnTo>
                    <a:pt x="49336" y="445121"/>
                  </a:lnTo>
                  <a:cubicBezTo>
                    <a:pt x="22089" y="445121"/>
                    <a:pt x="0" y="423032"/>
                    <a:pt x="0" y="395784"/>
                  </a:cubicBezTo>
                  <a:lnTo>
                    <a:pt x="0" y="49336"/>
                  </a:lnTo>
                  <a:cubicBezTo>
                    <a:pt x="0" y="22089"/>
                    <a:pt x="22089" y="0"/>
                    <a:pt x="49336" y="0"/>
                  </a:cubicBezTo>
                  <a:close/>
                </a:path>
              </a:pathLst>
            </a:custGeom>
            <a:solidFill>
              <a:srgbClr val="FFFBF7"/>
            </a:solidFill>
            <a:ln w="38100" cap="rnd" cmpd="sng">
              <a:solidFill>
                <a:srgbClr val="FFE0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8"/>
            <p:cNvSpPr txBox="1"/>
            <p:nvPr/>
          </p:nvSpPr>
          <p:spPr>
            <a:xfrm>
              <a:off x="0" y="-28575"/>
              <a:ext cx="1322529" cy="473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8"/>
          <p:cNvGrpSpPr/>
          <p:nvPr/>
        </p:nvGrpSpPr>
        <p:grpSpPr>
          <a:xfrm>
            <a:off x="114029" y="4080295"/>
            <a:ext cx="5049751" cy="2017915"/>
            <a:chOff x="0" y="-28575"/>
            <a:chExt cx="1329976" cy="531467"/>
          </a:xfrm>
        </p:grpSpPr>
        <p:sp>
          <p:nvSpPr>
            <p:cNvPr id="226" name="Google Shape;226;p8"/>
            <p:cNvSpPr/>
            <p:nvPr/>
          </p:nvSpPr>
          <p:spPr>
            <a:xfrm>
              <a:off x="0" y="0"/>
              <a:ext cx="1329976" cy="502892"/>
            </a:xfrm>
            <a:custGeom>
              <a:avLst/>
              <a:gdLst/>
              <a:ahLst/>
              <a:cxnLst/>
              <a:rect l="l" t="t" r="r" b="b"/>
              <a:pathLst>
                <a:path w="1329976" h="502892" extrusionOk="0">
                  <a:moveTo>
                    <a:pt x="49060" y="0"/>
                  </a:moveTo>
                  <a:lnTo>
                    <a:pt x="1280916" y="0"/>
                  </a:lnTo>
                  <a:cubicBezTo>
                    <a:pt x="1308011" y="0"/>
                    <a:pt x="1329976" y="21965"/>
                    <a:pt x="1329976" y="49060"/>
                  </a:cubicBezTo>
                  <a:lnTo>
                    <a:pt x="1329976" y="453832"/>
                  </a:lnTo>
                  <a:cubicBezTo>
                    <a:pt x="1329976" y="466844"/>
                    <a:pt x="1324807" y="479322"/>
                    <a:pt x="1315606" y="488523"/>
                  </a:cubicBezTo>
                  <a:cubicBezTo>
                    <a:pt x="1306406" y="497723"/>
                    <a:pt x="1293927" y="502892"/>
                    <a:pt x="1280916" y="502892"/>
                  </a:cubicBezTo>
                  <a:lnTo>
                    <a:pt x="49060" y="502892"/>
                  </a:lnTo>
                  <a:cubicBezTo>
                    <a:pt x="36049" y="502892"/>
                    <a:pt x="23570" y="497723"/>
                    <a:pt x="14369" y="488523"/>
                  </a:cubicBezTo>
                  <a:cubicBezTo>
                    <a:pt x="5169" y="479322"/>
                    <a:pt x="0" y="466844"/>
                    <a:pt x="0" y="453832"/>
                  </a:cubicBezTo>
                  <a:lnTo>
                    <a:pt x="0" y="49060"/>
                  </a:lnTo>
                  <a:cubicBezTo>
                    <a:pt x="0" y="36049"/>
                    <a:pt x="5169" y="23570"/>
                    <a:pt x="14369" y="14369"/>
                  </a:cubicBezTo>
                  <a:cubicBezTo>
                    <a:pt x="23570" y="5169"/>
                    <a:pt x="36049" y="0"/>
                    <a:pt x="49060" y="0"/>
                  </a:cubicBezTo>
                  <a:close/>
                </a:path>
              </a:pathLst>
            </a:custGeom>
            <a:solidFill>
              <a:srgbClr val="FFFBF7"/>
            </a:solidFill>
            <a:ln w="38100" cap="rnd" cmpd="sng">
              <a:solidFill>
                <a:srgbClr val="FFE0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0" y="-28575"/>
              <a:ext cx="1329976" cy="531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8"/>
          <p:cNvGrpSpPr/>
          <p:nvPr/>
        </p:nvGrpSpPr>
        <p:grpSpPr>
          <a:xfrm>
            <a:off x="11046138" y="1229493"/>
            <a:ext cx="4971033" cy="1798563"/>
            <a:chOff x="0" y="-28575"/>
            <a:chExt cx="1309243" cy="473696"/>
          </a:xfrm>
        </p:grpSpPr>
        <p:sp>
          <p:nvSpPr>
            <p:cNvPr id="229" name="Google Shape;229;p8"/>
            <p:cNvSpPr/>
            <p:nvPr/>
          </p:nvSpPr>
          <p:spPr>
            <a:xfrm>
              <a:off x="0" y="0"/>
              <a:ext cx="1309243" cy="445121"/>
            </a:xfrm>
            <a:custGeom>
              <a:avLst/>
              <a:gdLst/>
              <a:ahLst/>
              <a:cxnLst/>
              <a:rect l="l" t="t" r="r" b="b"/>
              <a:pathLst>
                <a:path w="1309243" h="445121" extrusionOk="0">
                  <a:moveTo>
                    <a:pt x="49837" y="0"/>
                  </a:moveTo>
                  <a:lnTo>
                    <a:pt x="1259406" y="0"/>
                  </a:lnTo>
                  <a:cubicBezTo>
                    <a:pt x="1272624" y="0"/>
                    <a:pt x="1285300" y="5251"/>
                    <a:pt x="1294646" y="14597"/>
                  </a:cubicBezTo>
                  <a:cubicBezTo>
                    <a:pt x="1303993" y="23943"/>
                    <a:pt x="1309243" y="36619"/>
                    <a:pt x="1309243" y="49837"/>
                  </a:cubicBezTo>
                  <a:lnTo>
                    <a:pt x="1309243" y="395284"/>
                  </a:lnTo>
                  <a:cubicBezTo>
                    <a:pt x="1309243" y="408501"/>
                    <a:pt x="1303993" y="421177"/>
                    <a:pt x="1294646" y="430524"/>
                  </a:cubicBezTo>
                  <a:cubicBezTo>
                    <a:pt x="1285300" y="439870"/>
                    <a:pt x="1272624" y="445121"/>
                    <a:pt x="1259406" y="445121"/>
                  </a:cubicBezTo>
                  <a:lnTo>
                    <a:pt x="49837" y="445121"/>
                  </a:lnTo>
                  <a:cubicBezTo>
                    <a:pt x="36619" y="445121"/>
                    <a:pt x="23943" y="439870"/>
                    <a:pt x="14597" y="430524"/>
                  </a:cubicBezTo>
                  <a:cubicBezTo>
                    <a:pt x="5251" y="421177"/>
                    <a:pt x="0" y="408501"/>
                    <a:pt x="0" y="395284"/>
                  </a:cubicBezTo>
                  <a:lnTo>
                    <a:pt x="0" y="49837"/>
                  </a:lnTo>
                  <a:cubicBezTo>
                    <a:pt x="0" y="36619"/>
                    <a:pt x="5251" y="23943"/>
                    <a:pt x="14597" y="14597"/>
                  </a:cubicBezTo>
                  <a:cubicBezTo>
                    <a:pt x="23943" y="5251"/>
                    <a:pt x="36619" y="0"/>
                    <a:pt x="49837" y="0"/>
                  </a:cubicBezTo>
                  <a:close/>
                </a:path>
              </a:pathLst>
            </a:custGeom>
            <a:solidFill>
              <a:srgbClr val="FFFBF7"/>
            </a:solidFill>
            <a:ln w="38100" cap="rnd" cmpd="sng">
              <a:solidFill>
                <a:srgbClr val="FFE0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8"/>
            <p:cNvSpPr txBox="1"/>
            <p:nvPr/>
          </p:nvSpPr>
          <p:spPr>
            <a:xfrm>
              <a:off x="0" y="-28575"/>
              <a:ext cx="1309243" cy="473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8"/>
          <p:cNvGrpSpPr/>
          <p:nvPr/>
        </p:nvGrpSpPr>
        <p:grpSpPr>
          <a:xfrm>
            <a:off x="9415501" y="7079197"/>
            <a:ext cx="4933777" cy="1798563"/>
            <a:chOff x="0" y="-11169"/>
            <a:chExt cx="1299431" cy="473696"/>
          </a:xfrm>
        </p:grpSpPr>
        <p:sp>
          <p:nvSpPr>
            <p:cNvPr id="232" name="Google Shape;232;p8"/>
            <p:cNvSpPr/>
            <p:nvPr/>
          </p:nvSpPr>
          <p:spPr>
            <a:xfrm>
              <a:off x="0" y="0"/>
              <a:ext cx="1299431" cy="445121"/>
            </a:xfrm>
            <a:custGeom>
              <a:avLst/>
              <a:gdLst/>
              <a:ahLst/>
              <a:cxnLst/>
              <a:rect l="l" t="t" r="r" b="b"/>
              <a:pathLst>
                <a:path w="1299431" h="445121" extrusionOk="0">
                  <a:moveTo>
                    <a:pt x="50213" y="0"/>
                  </a:moveTo>
                  <a:lnTo>
                    <a:pt x="1249218" y="0"/>
                  </a:lnTo>
                  <a:cubicBezTo>
                    <a:pt x="1262535" y="0"/>
                    <a:pt x="1275307" y="5290"/>
                    <a:pt x="1284724" y="14707"/>
                  </a:cubicBezTo>
                  <a:cubicBezTo>
                    <a:pt x="1294141" y="24124"/>
                    <a:pt x="1299431" y="36896"/>
                    <a:pt x="1299431" y="50213"/>
                  </a:cubicBezTo>
                  <a:lnTo>
                    <a:pt x="1299431" y="394907"/>
                  </a:lnTo>
                  <a:cubicBezTo>
                    <a:pt x="1299431" y="408225"/>
                    <a:pt x="1294141" y="420997"/>
                    <a:pt x="1284724" y="430414"/>
                  </a:cubicBezTo>
                  <a:cubicBezTo>
                    <a:pt x="1275307" y="439830"/>
                    <a:pt x="1262535" y="445121"/>
                    <a:pt x="1249218" y="445121"/>
                  </a:cubicBezTo>
                  <a:lnTo>
                    <a:pt x="50213" y="445121"/>
                  </a:lnTo>
                  <a:cubicBezTo>
                    <a:pt x="36896" y="445121"/>
                    <a:pt x="24124" y="439830"/>
                    <a:pt x="14707" y="430414"/>
                  </a:cubicBezTo>
                  <a:cubicBezTo>
                    <a:pt x="5290" y="420997"/>
                    <a:pt x="0" y="408225"/>
                    <a:pt x="0" y="394907"/>
                  </a:cubicBezTo>
                  <a:lnTo>
                    <a:pt x="0" y="50213"/>
                  </a:lnTo>
                  <a:cubicBezTo>
                    <a:pt x="0" y="36896"/>
                    <a:pt x="5290" y="24124"/>
                    <a:pt x="14707" y="14707"/>
                  </a:cubicBezTo>
                  <a:cubicBezTo>
                    <a:pt x="24124" y="5290"/>
                    <a:pt x="36896" y="0"/>
                    <a:pt x="50213" y="0"/>
                  </a:cubicBezTo>
                  <a:close/>
                </a:path>
              </a:pathLst>
            </a:custGeom>
            <a:solidFill>
              <a:srgbClr val="FFFBF7"/>
            </a:solidFill>
            <a:ln w="38100" cap="rnd" cmpd="sng">
              <a:solidFill>
                <a:srgbClr val="FFE0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8"/>
            <p:cNvSpPr txBox="1"/>
            <p:nvPr/>
          </p:nvSpPr>
          <p:spPr>
            <a:xfrm>
              <a:off x="0" y="-11169"/>
              <a:ext cx="1299431" cy="473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3200" b="0" i="0" u="none" strike="noStrike" cap="none" dirty="0" smtClean="0">
                  <a:solidFill>
                    <a:schemeClr val="dk1"/>
                  </a:solidFill>
                  <a:latin typeface="+mn-lt"/>
                  <a:ea typeface="Calibri"/>
                  <a:cs typeface="Calibri"/>
                  <a:sym typeface="Calibri"/>
                </a:rPr>
                <a:t>Xác thực phần quyền bằng JWT</a:t>
              </a:r>
              <a:endParaRPr sz="3200" b="0" i="0" u="none" strike="noStrike" cap="none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13274018" y="4953329"/>
            <a:ext cx="5190665" cy="1798563"/>
            <a:chOff x="0" y="-28575"/>
            <a:chExt cx="1367089" cy="473696"/>
          </a:xfrm>
        </p:grpSpPr>
        <p:sp>
          <p:nvSpPr>
            <p:cNvPr id="235" name="Google Shape;235;p8"/>
            <p:cNvSpPr/>
            <p:nvPr/>
          </p:nvSpPr>
          <p:spPr>
            <a:xfrm>
              <a:off x="0" y="0"/>
              <a:ext cx="1367089" cy="445121"/>
            </a:xfrm>
            <a:custGeom>
              <a:avLst/>
              <a:gdLst/>
              <a:ahLst/>
              <a:cxnLst/>
              <a:rect l="l" t="t" r="r" b="b"/>
              <a:pathLst>
                <a:path w="1367089" h="445121" extrusionOk="0">
                  <a:moveTo>
                    <a:pt x="47728" y="0"/>
                  </a:moveTo>
                  <a:lnTo>
                    <a:pt x="1319360" y="0"/>
                  </a:lnTo>
                  <a:cubicBezTo>
                    <a:pt x="1345720" y="0"/>
                    <a:pt x="1367089" y="21369"/>
                    <a:pt x="1367089" y="47728"/>
                  </a:cubicBezTo>
                  <a:lnTo>
                    <a:pt x="1367089" y="397392"/>
                  </a:lnTo>
                  <a:cubicBezTo>
                    <a:pt x="1367089" y="410051"/>
                    <a:pt x="1362060" y="422191"/>
                    <a:pt x="1353109" y="431141"/>
                  </a:cubicBezTo>
                  <a:cubicBezTo>
                    <a:pt x="1344159" y="440092"/>
                    <a:pt x="1332019" y="445121"/>
                    <a:pt x="1319360" y="445121"/>
                  </a:cubicBezTo>
                  <a:lnTo>
                    <a:pt x="47728" y="445121"/>
                  </a:lnTo>
                  <a:cubicBezTo>
                    <a:pt x="21369" y="445121"/>
                    <a:pt x="0" y="423752"/>
                    <a:pt x="0" y="397392"/>
                  </a:cubicBezTo>
                  <a:lnTo>
                    <a:pt x="0" y="47728"/>
                  </a:lnTo>
                  <a:cubicBezTo>
                    <a:pt x="0" y="35070"/>
                    <a:pt x="5028" y="22930"/>
                    <a:pt x="13979" y="13979"/>
                  </a:cubicBezTo>
                  <a:cubicBezTo>
                    <a:pt x="22930" y="5028"/>
                    <a:pt x="35070" y="0"/>
                    <a:pt x="47728" y="0"/>
                  </a:cubicBezTo>
                  <a:close/>
                </a:path>
              </a:pathLst>
            </a:custGeom>
            <a:solidFill>
              <a:srgbClr val="FFFBF7"/>
            </a:solidFill>
            <a:ln w="38100" cap="rnd" cmpd="sng">
              <a:solidFill>
                <a:srgbClr val="FFE0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0" y="-28575"/>
              <a:ext cx="1367089" cy="4736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8"/>
          <p:cNvSpPr txBox="1"/>
          <p:nvPr/>
        </p:nvSpPr>
        <p:spPr>
          <a:xfrm>
            <a:off x="3815416" y="1257366"/>
            <a:ext cx="4823738" cy="217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Khảo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sát</a:t>
            </a:r>
            <a:r>
              <a:rPr lang="en-US" sz="3200" b="0" i="0" u="none" strike="noStrike" cap="none" dirty="0" smtClean="0">
                <a:solidFill>
                  <a:schemeClr val="tx1"/>
                </a:solidFill>
                <a:sym typeface="Arial"/>
              </a:rPr>
              <a:t>,</a:t>
            </a:r>
            <a:r>
              <a:rPr lang="vi-VN" sz="3200" b="0" i="0" u="none" strike="noStrike" cap="none" dirty="0" smtClean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tx1"/>
                </a:solidFill>
                <a:sym typeface="Arial"/>
              </a:rPr>
              <a:t>phân</a:t>
            </a:r>
            <a:r>
              <a:rPr lang="en-US" sz="3200" b="0" i="0" u="none" strike="noStrike" cap="none" dirty="0" smtClean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tx1"/>
                </a:solidFill>
                <a:sym typeface="Arial"/>
              </a:rPr>
              <a:t>tích</a:t>
            </a:r>
            <a:r>
              <a:rPr lang="vi-VN" sz="3200" b="0" i="0" u="none" strike="noStrike" cap="none" dirty="0" smtClean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tx1"/>
                </a:solidFill>
                <a:sym typeface="Arial"/>
              </a:rPr>
              <a:t>và</a:t>
            </a:r>
            <a:r>
              <a:rPr lang="en-US" sz="3200" b="0" i="0" u="none" strike="noStrike" cap="none" dirty="0" smtClean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đánh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giá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website</a:t>
            </a:r>
            <a:endParaRPr sz="3200"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 dirty="0">
              <a:solidFill>
                <a:srgbClr val="9D75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8"/>
          <p:cNvGrpSpPr/>
          <p:nvPr/>
        </p:nvGrpSpPr>
        <p:grpSpPr>
          <a:xfrm>
            <a:off x="5949412" y="6614731"/>
            <a:ext cx="798453" cy="798453"/>
            <a:chOff x="0" y="0"/>
            <a:chExt cx="1064604" cy="1064604"/>
          </a:xfrm>
        </p:grpSpPr>
        <p:grpSp>
          <p:nvGrpSpPr>
            <p:cNvPr id="239" name="Google Shape;239;p8"/>
            <p:cNvGrpSpPr/>
            <p:nvPr/>
          </p:nvGrpSpPr>
          <p:grpSpPr>
            <a:xfrm>
              <a:off x="0" y="0"/>
              <a:ext cx="1064604" cy="1064604"/>
              <a:chOff x="0" y="0"/>
              <a:chExt cx="812800" cy="812800"/>
            </a:xfrm>
          </p:grpSpPr>
          <p:sp>
            <p:nvSpPr>
              <p:cNvPr id="240" name="Google Shape;240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870"/>
              </a:solidFill>
              <a:ln w="38100" cap="sq" cmpd="sng">
                <a:solidFill>
                  <a:srgbClr val="FFE0C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2" name="Google Shape;242;p8"/>
            <p:cNvSpPr txBox="1"/>
            <p:nvPr/>
          </p:nvSpPr>
          <p:spPr>
            <a:xfrm>
              <a:off x="101600" y="245995"/>
              <a:ext cx="861404" cy="620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</p:grpSp>
      <p:sp>
        <p:nvSpPr>
          <p:cNvPr id="243" name="Google Shape;243;p8"/>
          <p:cNvSpPr txBox="1"/>
          <p:nvPr/>
        </p:nvSpPr>
        <p:spPr>
          <a:xfrm>
            <a:off x="4269182" y="7287773"/>
            <a:ext cx="4307305" cy="217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2000"/>
              </a:lnSpc>
            </a:pPr>
            <a:r>
              <a:rPr lang="en-US" sz="3200" dirty="0" err="1">
                <a:solidFill>
                  <a:schemeClr val="tx1"/>
                </a:solidFill>
              </a:rPr>
              <a:t>Lập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trình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giao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diện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và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kết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nối</a:t>
            </a:r>
            <a:r>
              <a:rPr lang="en-US" sz="3200" dirty="0">
                <a:solidFill>
                  <a:schemeClr val="tx1"/>
                </a:solidFill>
              </a:rPr>
              <a:t> API</a:t>
            </a:r>
          </a:p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 dirty="0">
              <a:solidFill>
                <a:srgbClr val="9D75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8"/>
          <p:cNvGrpSpPr/>
          <p:nvPr/>
        </p:nvGrpSpPr>
        <p:grpSpPr>
          <a:xfrm>
            <a:off x="13115842" y="922541"/>
            <a:ext cx="831625" cy="798453"/>
            <a:chOff x="0" y="0"/>
            <a:chExt cx="1108833" cy="1064604"/>
          </a:xfrm>
        </p:grpSpPr>
        <p:grpSp>
          <p:nvGrpSpPr>
            <p:cNvPr id="245" name="Google Shape;245;p8"/>
            <p:cNvGrpSpPr/>
            <p:nvPr/>
          </p:nvGrpSpPr>
          <p:grpSpPr>
            <a:xfrm>
              <a:off x="22115" y="0"/>
              <a:ext cx="1064604" cy="1064604"/>
              <a:chOff x="0" y="0"/>
              <a:chExt cx="812800" cy="812800"/>
            </a:xfrm>
          </p:grpSpPr>
          <p:sp>
            <p:nvSpPr>
              <p:cNvPr id="246" name="Google Shape;246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870"/>
              </a:solidFill>
              <a:ln w="38100" cap="sq" cmpd="sng">
                <a:solidFill>
                  <a:srgbClr val="FFE0C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8" name="Google Shape;248;p8"/>
            <p:cNvSpPr txBox="1"/>
            <p:nvPr/>
          </p:nvSpPr>
          <p:spPr>
            <a:xfrm>
              <a:off x="0" y="271363"/>
              <a:ext cx="1108833" cy="6203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/>
            </a:p>
          </p:txBody>
        </p:sp>
      </p:grpSp>
      <p:sp>
        <p:nvSpPr>
          <p:cNvPr id="249" name="Google Shape;249;p8"/>
          <p:cNvSpPr txBox="1"/>
          <p:nvPr/>
        </p:nvSpPr>
        <p:spPr>
          <a:xfrm>
            <a:off x="11597896" y="1574180"/>
            <a:ext cx="4067315" cy="217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Kiểm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thử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và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triển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khai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hệ</a:t>
            </a:r>
            <a:r>
              <a:rPr lang="en-US" sz="3200" b="0" i="0" u="none" strike="noStrike" cap="none" dirty="0">
                <a:solidFill>
                  <a:schemeClr val="tx1"/>
                </a:solidFill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chemeClr val="tx1"/>
                </a:solidFill>
                <a:sym typeface="Arial"/>
              </a:rPr>
              <a:t>thống</a:t>
            </a:r>
            <a:endParaRPr sz="3200"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 dirty="0">
              <a:solidFill>
                <a:srgbClr val="9D75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8"/>
          <p:cNvGrpSpPr/>
          <p:nvPr/>
        </p:nvGrpSpPr>
        <p:grpSpPr>
          <a:xfrm>
            <a:off x="15506248" y="4411602"/>
            <a:ext cx="798453" cy="798453"/>
            <a:chOff x="0" y="0"/>
            <a:chExt cx="1064604" cy="1064604"/>
          </a:xfrm>
        </p:grpSpPr>
        <p:grpSp>
          <p:nvGrpSpPr>
            <p:cNvPr id="251" name="Google Shape;251;p8"/>
            <p:cNvGrpSpPr/>
            <p:nvPr/>
          </p:nvGrpSpPr>
          <p:grpSpPr>
            <a:xfrm>
              <a:off x="0" y="0"/>
              <a:ext cx="1064604" cy="1064604"/>
              <a:chOff x="0" y="0"/>
              <a:chExt cx="812800" cy="812800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8DD2"/>
              </a:solidFill>
              <a:ln w="38100" cap="sq" cmpd="sng">
                <a:solidFill>
                  <a:srgbClr val="FFE0C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" name="Google Shape;254;p8"/>
            <p:cNvSpPr txBox="1"/>
            <p:nvPr/>
          </p:nvSpPr>
          <p:spPr>
            <a:xfrm>
              <a:off x="52992" y="288684"/>
              <a:ext cx="958620" cy="620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/>
            </a:p>
          </p:txBody>
        </p:sp>
      </p:grpSp>
      <p:sp>
        <p:nvSpPr>
          <p:cNvPr id="255" name="Google Shape;255;p8"/>
          <p:cNvSpPr txBox="1"/>
          <p:nvPr/>
        </p:nvSpPr>
        <p:spPr>
          <a:xfrm>
            <a:off x="13984995" y="5201790"/>
            <a:ext cx="3840957" cy="149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200" dirty="0" smtClean="0">
                <a:solidFill>
                  <a:schemeClr val="tx1"/>
                </a:solidFill>
                <a:latin typeface="+mn-lt"/>
              </a:rPr>
              <a:t>Tích hợp thanh toán online và Chatbot</a:t>
            </a:r>
            <a:r>
              <a:rPr lang="en-US" sz="3200" dirty="0" smtClean="0">
                <a:solidFill>
                  <a:schemeClr val="tx1"/>
                </a:solidFill>
                <a:latin typeface="+mn-lt"/>
              </a:rPr>
              <a:t> </a:t>
            </a:r>
            <a:endParaRPr sz="3200" b="0" i="0" u="none" strike="noStrike" cap="none" dirty="0">
              <a:solidFill>
                <a:schemeClr val="tx1"/>
              </a:solidFill>
              <a:latin typeface="+mn-lt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16629671" y="8874541"/>
            <a:ext cx="341049" cy="296402"/>
          </a:xfrm>
          <a:custGeom>
            <a:avLst/>
            <a:gdLst/>
            <a:ahLst/>
            <a:cxnLst/>
            <a:rect l="l" t="t" r="r" b="b"/>
            <a:pathLst>
              <a:path w="341049" h="296402" extrusionOk="0">
                <a:moveTo>
                  <a:pt x="0" y="0"/>
                </a:moveTo>
                <a:lnTo>
                  <a:pt x="341049" y="0"/>
                </a:lnTo>
                <a:lnTo>
                  <a:pt x="341049" y="296402"/>
                </a:lnTo>
                <a:lnTo>
                  <a:pt x="0" y="2964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57" name="Google Shape;257;p8"/>
          <p:cNvGrpSpPr/>
          <p:nvPr/>
        </p:nvGrpSpPr>
        <p:grpSpPr>
          <a:xfrm>
            <a:off x="11078437" y="6614731"/>
            <a:ext cx="803953" cy="798453"/>
            <a:chOff x="0" y="0"/>
            <a:chExt cx="1071937" cy="1064604"/>
          </a:xfrm>
        </p:grpSpPr>
        <p:grpSp>
          <p:nvGrpSpPr>
            <p:cNvPr id="258" name="Google Shape;258;p8"/>
            <p:cNvGrpSpPr/>
            <p:nvPr/>
          </p:nvGrpSpPr>
          <p:grpSpPr>
            <a:xfrm>
              <a:off x="0" y="0"/>
              <a:ext cx="1064604" cy="1064604"/>
              <a:chOff x="0" y="0"/>
              <a:chExt cx="812800" cy="812800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3AF77"/>
              </a:solidFill>
              <a:ln w="38100" cap="sq" cmpd="sng">
                <a:solidFill>
                  <a:srgbClr val="FFE0C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" name="Google Shape;261;p8"/>
            <p:cNvSpPr txBox="1"/>
            <p:nvPr/>
          </p:nvSpPr>
          <p:spPr>
            <a:xfrm>
              <a:off x="0" y="277150"/>
              <a:ext cx="1071937" cy="620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/>
            </a:p>
          </p:txBody>
        </p:sp>
      </p:grpSp>
      <p:sp>
        <p:nvSpPr>
          <p:cNvPr id="263" name="Google Shape;263;p8"/>
          <p:cNvSpPr txBox="1"/>
          <p:nvPr/>
        </p:nvSpPr>
        <p:spPr>
          <a:xfrm>
            <a:off x="6249769" y="9241780"/>
            <a:ext cx="1657398" cy="54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7F0"/>
                </a:solidFill>
                <a:latin typeface="Arial"/>
                <a:ea typeface="Arial"/>
                <a:cs typeface="Arial"/>
                <a:sym typeface="Arial"/>
              </a:rPr>
              <a:t>Final checks before posting</a:t>
            </a:r>
            <a:endParaRPr/>
          </a:p>
        </p:txBody>
      </p:sp>
      <p:grpSp>
        <p:nvGrpSpPr>
          <p:cNvPr id="264" name="Google Shape;264;p8"/>
          <p:cNvGrpSpPr/>
          <p:nvPr/>
        </p:nvGrpSpPr>
        <p:grpSpPr>
          <a:xfrm>
            <a:off x="5666382" y="616495"/>
            <a:ext cx="1101990" cy="798453"/>
            <a:chOff x="0" y="0"/>
            <a:chExt cx="1469320" cy="1064604"/>
          </a:xfrm>
        </p:grpSpPr>
        <p:grpSp>
          <p:nvGrpSpPr>
            <p:cNvPr id="265" name="Google Shape;265;p8"/>
            <p:cNvGrpSpPr/>
            <p:nvPr/>
          </p:nvGrpSpPr>
          <p:grpSpPr>
            <a:xfrm>
              <a:off x="189658" y="0"/>
              <a:ext cx="1064604" cy="1064604"/>
              <a:chOff x="0" y="0"/>
              <a:chExt cx="812800" cy="812800"/>
            </a:xfrm>
          </p:grpSpPr>
          <p:sp>
            <p:nvSpPr>
              <p:cNvPr id="266" name="Google Shape;266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3AF77"/>
              </a:solidFill>
              <a:ln w="38100" cap="sq" cmpd="sng">
                <a:solidFill>
                  <a:srgbClr val="FFE0C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8"/>
            <p:cNvSpPr txBox="1"/>
            <p:nvPr/>
          </p:nvSpPr>
          <p:spPr>
            <a:xfrm>
              <a:off x="0" y="271395"/>
              <a:ext cx="1469320" cy="620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1943827" y="3789564"/>
            <a:ext cx="798453" cy="798453"/>
            <a:chOff x="0" y="0"/>
            <a:chExt cx="1064604" cy="1064604"/>
          </a:xfrm>
        </p:grpSpPr>
        <p:grpSp>
          <p:nvGrpSpPr>
            <p:cNvPr id="270" name="Google Shape;270;p8"/>
            <p:cNvGrpSpPr/>
            <p:nvPr/>
          </p:nvGrpSpPr>
          <p:grpSpPr>
            <a:xfrm>
              <a:off x="0" y="0"/>
              <a:ext cx="1064604" cy="1064604"/>
              <a:chOff x="0" y="0"/>
              <a:chExt cx="812800" cy="812800"/>
            </a:xfrm>
          </p:grpSpPr>
          <p:sp>
            <p:nvSpPr>
              <p:cNvPr id="271" name="Google Shape;271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28DD2"/>
              </a:solidFill>
              <a:ln w="38100" cap="sq" cmpd="sng">
                <a:solidFill>
                  <a:srgbClr val="FFE0C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3" name="Google Shape;273;p8"/>
            <p:cNvSpPr txBox="1"/>
            <p:nvPr/>
          </p:nvSpPr>
          <p:spPr>
            <a:xfrm>
              <a:off x="53002" y="258695"/>
              <a:ext cx="958599" cy="6202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49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</p:grpSp>
      <p:sp>
        <p:nvSpPr>
          <p:cNvPr id="274" name="Google Shape;274;p8"/>
          <p:cNvSpPr txBox="1"/>
          <p:nvPr/>
        </p:nvSpPr>
        <p:spPr>
          <a:xfrm>
            <a:off x="539360" y="4650230"/>
            <a:ext cx="4339179" cy="142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2000"/>
              </a:lnSpc>
            </a:pPr>
            <a:r>
              <a:rPr lang="en-US" sz="3200" dirty="0" err="1">
                <a:solidFill>
                  <a:schemeClr val="tx1"/>
                </a:solidFill>
              </a:rPr>
              <a:t>Lập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trình</a:t>
            </a:r>
            <a:r>
              <a:rPr lang="en-US" sz="3200" dirty="0">
                <a:solidFill>
                  <a:schemeClr val="tx1"/>
                </a:solidFill>
              </a:rPr>
              <a:t> Backend API</a:t>
            </a:r>
          </a:p>
          <a:p>
            <a:pPr marL="0" marR="0" lvl="0" indent="0" algn="ctr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 dirty="0">
              <a:solidFill>
                <a:srgbClr val="9D75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8"/>
          <p:cNvCxnSpPr/>
          <p:nvPr/>
        </p:nvCxnSpPr>
        <p:spPr>
          <a:xfrm>
            <a:off x="6568840" y="2718767"/>
            <a:ext cx="865927" cy="876747"/>
          </a:xfrm>
          <a:prstGeom prst="straightConnector1">
            <a:avLst/>
          </a:prstGeom>
          <a:noFill/>
          <a:ln w="19050" cap="flat" cmpd="sng">
            <a:solidFill>
              <a:srgbClr val="FDC78F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277" name="Google Shape;277;p8"/>
          <p:cNvCxnSpPr/>
          <p:nvPr/>
        </p:nvCxnSpPr>
        <p:spPr>
          <a:xfrm>
            <a:off x="4548342" y="4038005"/>
            <a:ext cx="1125349" cy="373597"/>
          </a:xfrm>
          <a:prstGeom prst="straightConnector1">
            <a:avLst/>
          </a:prstGeom>
          <a:noFill/>
          <a:ln w="19050" cap="flat" cmpd="sng">
            <a:solidFill>
              <a:srgbClr val="FDC78F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278" name="Google Shape;278;p8"/>
          <p:cNvCxnSpPr/>
          <p:nvPr/>
        </p:nvCxnSpPr>
        <p:spPr>
          <a:xfrm rot="10800000" flipH="1">
            <a:off x="6815666" y="5710935"/>
            <a:ext cx="619101" cy="903797"/>
          </a:xfrm>
          <a:prstGeom prst="straightConnector1">
            <a:avLst/>
          </a:prstGeom>
          <a:noFill/>
          <a:ln w="19050" cap="flat" cmpd="sng">
            <a:solidFill>
              <a:srgbClr val="FDC78F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279" name="Google Shape;279;p8"/>
          <p:cNvCxnSpPr/>
          <p:nvPr/>
        </p:nvCxnSpPr>
        <p:spPr>
          <a:xfrm rot="10800000">
            <a:off x="9978000" y="5690659"/>
            <a:ext cx="901918" cy="901918"/>
          </a:xfrm>
          <a:prstGeom prst="straightConnector1">
            <a:avLst/>
          </a:prstGeom>
          <a:noFill/>
          <a:ln w="19050" cap="flat" cmpd="sng">
            <a:solidFill>
              <a:srgbClr val="FDC78F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280" name="Google Shape;280;p8"/>
          <p:cNvCxnSpPr/>
          <p:nvPr/>
        </p:nvCxnSpPr>
        <p:spPr>
          <a:xfrm rot="10800000">
            <a:off x="12933893" y="4171065"/>
            <a:ext cx="955637" cy="852719"/>
          </a:xfrm>
          <a:prstGeom prst="straightConnector1">
            <a:avLst/>
          </a:prstGeom>
          <a:noFill/>
          <a:ln w="19050" cap="flat" cmpd="sng">
            <a:solidFill>
              <a:srgbClr val="FDC78F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281" name="Google Shape;281;p8"/>
          <p:cNvCxnSpPr/>
          <p:nvPr/>
        </p:nvCxnSpPr>
        <p:spPr>
          <a:xfrm flipH="1">
            <a:off x="10345608" y="2183022"/>
            <a:ext cx="320669" cy="1412491"/>
          </a:xfrm>
          <a:prstGeom prst="straightConnector1">
            <a:avLst/>
          </a:prstGeom>
          <a:noFill/>
          <a:ln w="19050" cap="flat" cmpd="sng">
            <a:solidFill>
              <a:srgbClr val="FDC78F"/>
            </a:solidFill>
            <a:prstDash val="dash"/>
            <a:round/>
            <a:headEnd type="triangle" w="med" len="med"/>
            <a:tailEnd type="none" w="sm" len="sm"/>
          </a:ln>
        </p:spPr>
      </p:cxnSp>
      <p:sp>
        <p:nvSpPr>
          <p:cNvPr id="282" name="Google Shape;282;p8"/>
          <p:cNvSpPr txBox="1"/>
          <p:nvPr/>
        </p:nvSpPr>
        <p:spPr>
          <a:xfrm>
            <a:off x="2638904" y="4151213"/>
            <a:ext cx="9718860" cy="105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4" b="0" i="0" u="none" strike="noStrike" cap="none" dirty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NỘI DUNG NGHIÊN CỨU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5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177" name="Google Shape;177;p5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</p:sp>
        <p:sp>
          <p:nvSpPr>
            <p:cNvPr id="178" name="Google Shape;178;p5"/>
            <p:cNvSpPr txBox="1"/>
            <p:nvPr/>
          </p:nvSpPr>
          <p:spPr>
            <a:xfrm>
              <a:off x="0" y="38100"/>
              <a:ext cx="4274726" cy="2129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25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56803" y="1897380"/>
            <a:ext cx="6730139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2960521" y="2055876"/>
            <a:ext cx="3847435" cy="441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3925" b="0" i="0" u="none" strike="noStrike" cap="none" dirty="0" smtClean="0">
                <a:solidFill>
                  <a:srgbClr val="231C28"/>
                </a:solidFill>
                <a:latin typeface="Anton"/>
                <a:ea typeface="Anton"/>
                <a:cs typeface="Anton"/>
                <a:sym typeface="Anton"/>
              </a:rPr>
              <a:t>05</a:t>
            </a:r>
            <a:endParaRPr dirty="0"/>
          </a:p>
        </p:txBody>
      </p:sp>
      <p:sp>
        <p:nvSpPr>
          <p:cNvPr id="181" name="Google Shape;181;p5"/>
          <p:cNvSpPr txBox="1"/>
          <p:nvPr/>
        </p:nvSpPr>
        <p:spPr>
          <a:xfrm>
            <a:off x="853440" y="5727492"/>
            <a:ext cx="8673124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40002"/>
              </a:lnSpc>
            </a:pPr>
            <a:r>
              <a:rPr lang="vi-VN" sz="9352" dirty="0" smtClean="0">
                <a:solidFill>
                  <a:srgbClr val="231C28"/>
                </a:solidFill>
                <a:latin typeface="Anton"/>
                <a:sym typeface="Anton"/>
              </a:rPr>
              <a:t>PHÂN TÍCH THIẾT KẾ</a:t>
            </a:r>
            <a:endParaRPr lang="vi-VN" sz="9600" dirty="0"/>
          </a:p>
        </p:txBody>
      </p:sp>
      <p:sp>
        <p:nvSpPr>
          <p:cNvPr id="9" name="Google Shape;87;p1"/>
          <p:cNvSpPr/>
          <p:nvPr/>
        </p:nvSpPr>
        <p:spPr>
          <a:xfrm>
            <a:off x="0" y="0"/>
            <a:ext cx="18288000" cy="2444882"/>
          </a:xfrm>
          <a:custGeom>
            <a:avLst/>
            <a:gdLst/>
            <a:ahLst/>
            <a:cxnLst/>
            <a:rect l="l" t="t" r="r" b="b"/>
            <a:pathLst>
              <a:path w="12712661" h="2444882" extrusionOk="0">
                <a:moveTo>
                  <a:pt x="0" y="0"/>
                </a:moveTo>
                <a:lnTo>
                  <a:pt x="12712661" y="0"/>
                </a:lnTo>
                <a:lnTo>
                  <a:pt x="12712661" y="2444882"/>
                </a:lnTo>
                <a:lnTo>
                  <a:pt x="0" y="24448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6283" b="-629497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1743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98869" y="459741"/>
            <a:ext cx="6326190" cy="713740"/>
          </a:xfrm>
        </p:spPr>
        <p:txBody>
          <a:bodyPr>
            <a:noAutofit/>
          </a:bodyPr>
          <a:lstStyle/>
          <a:p>
            <a:pPr algn="ctr"/>
            <a:r>
              <a:rPr lang="vi-VN" sz="3200" b="1" dirty="0" smtClean="0">
                <a:latin typeface="+mn-lt"/>
              </a:rPr>
              <a:t>BIỂU ĐỒ USE CASE</a:t>
            </a:r>
            <a:endParaRPr lang="en-US" sz="3200" b="1" dirty="0">
              <a:latin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939" y="246380"/>
            <a:ext cx="13190154" cy="1004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7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" t="4000" r="2535" b="4000"/>
          <a:stretch/>
        </p:blipFill>
        <p:spPr>
          <a:xfrm>
            <a:off x="899160" y="0"/>
            <a:ext cx="16134522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9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0985" y="3879273"/>
            <a:ext cx="9513451" cy="1246908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 </a:t>
            </a:r>
            <a:r>
              <a:rPr lang="vi-VN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TRÌNH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42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"/>
          <p:cNvSpPr/>
          <p:nvPr/>
        </p:nvSpPr>
        <p:spPr>
          <a:xfrm>
            <a:off x="11109490" y="2383512"/>
            <a:ext cx="6149810" cy="6874788"/>
          </a:xfrm>
          <a:custGeom>
            <a:avLst/>
            <a:gdLst/>
            <a:ahLst/>
            <a:cxnLst/>
            <a:rect l="l" t="t" r="r" b="b"/>
            <a:pathLst>
              <a:path w="6149810" h="6874788" extrusionOk="0">
                <a:moveTo>
                  <a:pt x="0" y="0"/>
                </a:moveTo>
                <a:lnTo>
                  <a:pt x="6149810" y="0"/>
                </a:lnTo>
                <a:lnTo>
                  <a:pt x="6149810" y="6874788"/>
                </a:lnTo>
                <a:lnTo>
                  <a:pt x="0" y="6874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85" name="Google Shape;385;p17"/>
          <p:cNvSpPr txBox="1"/>
          <p:nvPr/>
        </p:nvSpPr>
        <p:spPr>
          <a:xfrm>
            <a:off x="1624149" y="3338056"/>
            <a:ext cx="10258286" cy="515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 b="1" i="0" u="none" strike="noStrike" cap="none" dirty="0">
                <a:solidFill>
                  <a:srgbClr val="0C1D4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EM XIN </a:t>
            </a:r>
            <a:endParaRPr dirty="0"/>
          </a:p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99" b="1" i="0" u="none" strike="noStrike" cap="none" dirty="0">
                <a:solidFill>
                  <a:srgbClr val="0C1D4B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CHÂN THÀNH CẢM ƠN ! </a:t>
            </a:r>
            <a:endParaRPr dirty="0"/>
          </a:p>
          <a:p>
            <a:pPr marL="0" marR="0" lvl="0" indent="0" algn="l" rtl="0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999" b="1" i="0" u="none" strike="noStrike" cap="none" dirty="0">
              <a:solidFill>
                <a:srgbClr val="0C1D4B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327</TotalTime>
  <Words>298</Words>
  <Application>Microsoft Office PowerPoint</Application>
  <PresentationFormat>Custom</PresentationFormat>
  <Paragraphs>67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Batang</vt:lpstr>
      <vt:lpstr>Canva Sans Bold</vt:lpstr>
      <vt:lpstr>Montserrat Black</vt:lpstr>
      <vt:lpstr>Ultra</vt:lpstr>
      <vt:lpstr>Trebuchet MS</vt:lpstr>
      <vt:lpstr>Calibri</vt:lpstr>
      <vt:lpstr>Open Sans Bold</vt:lpstr>
      <vt:lpstr>Anton</vt:lpstr>
      <vt:lpstr>Helvetica Neue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END</vt:lpstr>
      <vt:lpstr>FRONT END</vt:lpstr>
      <vt:lpstr>PowerPoint Presentation</vt:lpstr>
      <vt:lpstr>PowerPoint Presentation</vt:lpstr>
      <vt:lpstr>PowerPoint Presentation</vt:lpstr>
      <vt:lpstr>BIỂU ĐỒ USE CASE</vt:lpstr>
      <vt:lpstr>PowerPoint Presentation</vt:lpstr>
      <vt:lpstr>DEMO CHƯƠNG TRÌNH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Nguyen Ngoc</cp:lastModifiedBy>
  <cp:revision>28</cp:revision>
  <dcterms:created xsi:type="dcterms:W3CDTF">2006-08-16T00:00:00Z</dcterms:created>
  <dcterms:modified xsi:type="dcterms:W3CDTF">2025-06-14T05:09:14Z</dcterms:modified>
</cp:coreProperties>
</file>